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e3e22cc28b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e3e22cc28b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e3e22cc28b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2e3e22cc28b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e3e22cc28b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e3e22cc28b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3e7f89ba3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3e7f89ba3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3e8659415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3e8659415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e3e22cc28b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e3e22cc28b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e3e22cc28b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e3e22cc28b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e3e22cc28b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e3e22cc28b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e3e22cc28b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2e3e22cc28b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e3e22cc28b_0_3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2e3e22cc28b_0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e3e22cc28b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2e3e22cc28b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3e8659415e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3e8659415e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2e3e22cc28b_0_3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2e3e22cc28b_0_3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3e8659415e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3e8659415e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24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8.png"/><Relationship Id="rId5" Type="http://schemas.openxmlformats.org/officeDocument/2006/relationships/image" Target="../media/image15.png"/><Relationship Id="rId6" Type="http://schemas.openxmlformats.org/officeDocument/2006/relationships/image" Target="../media/image9.png"/><Relationship Id="rId7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3.png"/><Relationship Id="rId4" Type="http://schemas.openxmlformats.org/officeDocument/2006/relationships/image" Target="../media/image20.png"/><Relationship Id="rId5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1.png"/><Relationship Id="rId4" Type="http://schemas.openxmlformats.org/officeDocument/2006/relationships/image" Target="../media/image25.png"/><Relationship Id="rId5" Type="http://schemas.openxmlformats.org/officeDocument/2006/relationships/image" Target="../media/image16.png"/><Relationship Id="rId6" Type="http://schemas.openxmlformats.org/officeDocument/2006/relationships/image" Target="../media/image22.png"/><Relationship Id="rId7" Type="http://schemas.openxmlformats.org/officeDocument/2006/relationships/image" Target="../media/image19.png"/><Relationship Id="rId8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/>
          <p:nvPr/>
        </p:nvSpPr>
        <p:spPr>
          <a:xfrm>
            <a:off x="1788000" y="2102475"/>
            <a:ext cx="312600" cy="267900"/>
          </a:xfrm>
          <a:prstGeom prst="ellipse">
            <a:avLst/>
          </a:prstGeom>
          <a:solidFill>
            <a:schemeClr val="dk1"/>
          </a:solidFill>
          <a:ln cap="flat" cmpd="sng" w="38100">
            <a:solidFill>
              <a:srgbClr val="00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9" name="Google Shape;59;p14"/>
          <p:cNvCxnSpPr/>
          <p:nvPr/>
        </p:nvCxnSpPr>
        <p:spPr>
          <a:xfrm>
            <a:off x="2100600" y="2236425"/>
            <a:ext cx="1339500" cy="0"/>
          </a:xfrm>
          <a:prstGeom prst="straightConnector1">
            <a:avLst/>
          </a:prstGeom>
          <a:noFill/>
          <a:ln cap="flat" cmpd="sng" w="38100">
            <a:solidFill>
              <a:srgbClr val="00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" name="Google Shape;60;p14"/>
          <p:cNvSpPr/>
          <p:nvPr/>
        </p:nvSpPr>
        <p:spPr>
          <a:xfrm>
            <a:off x="3440100" y="2102475"/>
            <a:ext cx="312600" cy="267900"/>
          </a:xfrm>
          <a:prstGeom prst="ellipse">
            <a:avLst/>
          </a:prstGeom>
          <a:solidFill>
            <a:schemeClr val="dk1"/>
          </a:solidFill>
          <a:ln cap="flat" cmpd="sng" w="38100">
            <a:solidFill>
              <a:srgbClr val="00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/>
          <p:nvPr/>
        </p:nvSpPr>
        <p:spPr>
          <a:xfrm>
            <a:off x="5206500" y="2102475"/>
            <a:ext cx="312600" cy="267900"/>
          </a:xfrm>
          <a:prstGeom prst="ellipse">
            <a:avLst/>
          </a:prstGeom>
          <a:solidFill>
            <a:schemeClr val="dk1"/>
          </a:solidFill>
          <a:ln cap="flat" cmpd="sng" w="38100">
            <a:solidFill>
              <a:srgbClr val="00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2" name="Google Shape;62;p14"/>
          <p:cNvCxnSpPr>
            <a:stCxn id="60" idx="6"/>
            <a:endCxn id="61" idx="2"/>
          </p:cNvCxnSpPr>
          <p:nvPr/>
        </p:nvCxnSpPr>
        <p:spPr>
          <a:xfrm>
            <a:off x="3752700" y="2236425"/>
            <a:ext cx="1453800" cy="0"/>
          </a:xfrm>
          <a:prstGeom prst="straightConnector1">
            <a:avLst/>
          </a:prstGeom>
          <a:noFill/>
          <a:ln cap="flat" cmpd="sng" w="38100">
            <a:solidFill>
              <a:srgbClr val="00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" name="Google Shape;63;p14"/>
          <p:cNvSpPr txBox="1"/>
          <p:nvPr/>
        </p:nvSpPr>
        <p:spPr>
          <a:xfrm>
            <a:off x="1497750" y="2579350"/>
            <a:ext cx="893100" cy="461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lt2"/>
                </a:solidFill>
              </a:rPr>
              <a:t>機械碼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3008550" y="2579325"/>
            <a:ext cx="1192500" cy="461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lt2"/>
                </a:solidFill>
              </a:rPr>
              <a:t>組合語言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4801950" y="2579325"/>
            <a:ext cx="1121700" cy="461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lt2"/>
                </a:solidFill>
              </a:rPr>
              <a:t>直譯語言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6524550" y="2579325"/>
            <a:ext cx="1121700" cy="461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lt2"/>
                </a:solidFill>
              </a:rPr>
              <a:t>編</a:t>
            </a:r>
            <a:r>
              <a:rPr lang="zh-TW" sz="1800">
                <a:solidFill>
                  <a:schemeClr val="lt2"/>
                </a:solidFill>
              </a:rPr>
              <a:t>譯語言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67" name="Google Shape;67;p14"/>
          <p:cNvSpPr/>
          <p:nvPr/>
        </p:nvSpPr>
        <p:spPr>
          <a:xfrm>
            <a:off x="6929100" y="2102475"/>
            <a:ext cx="312600" cy="267900"/>
          </a:xfrm>
          <a:prstGeom prst="ellipse">
            <a:avLst/>
          </a:prstGeom>
          <a:solidFill>
            <a:schemeClr val="dk1"/>
          </a:solidFill>
          <a:ln cap="flat" cmpd="sng" w="38100">
            <a:solidFill>
              <a:srgbClr val="00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8" name="Google Shape;68;p14"/>
          <p:cNvCxnSpPr>
            <a:stCxn id="67" idx="2"/>
            <a:endCxn id="61" idx="6"/>
          </p:cNvCxnSpPr>
          <p:nvPr/>
        </p:nvCxnSpPr>
        <p:spPr>
          <a:xfrm rot="10800000">
            <a:off x="5519100" y="2236425"/>
            <a:ext cx="1410000" cy="0"/>
          </a:xfrm>
          <a:prstGeom prst="straightConnector1">
            <a:avLst/>
          </a:prstGeom>
          <a:noFill/>
          <a:ln cap="flat" cmpd="sng" w="38100">
            <a:solidFill>
              <a:srgbClr val="00FF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71900" y="0"/>
            <a:ext cx="1028694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/>
        </p:nvSpPr>
        <p:spPr>
          <a:xfrm>
            <a:off x="0" y="461700"/>
            <a:ext cx="3000000" cy="21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5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0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time</a:t>
            </a:r>
            <a:endParaRPr sz="1050">
              <a:solidFill>
                <a:srgbClr val="4EC9B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50">
                <a:solidFill>
                  <a:srgbClr val="4FC1FF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0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100000000</a:t>
            </a:r>
            <a:endParaRPr sz="1050">
              <a:solidFill>
                <a:srgbClr val="B5CEA8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start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0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time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zh-TW" sz="10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time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0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sz="1050">
              <a:solidFill>
                <a:srgbClr val="B5CEA8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5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05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0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range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zh-TW" sz="1050">
                <a:solidFill>
                  <a:srgbClr val="4FC1FF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zh-TW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+=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 sz="1050">
              <a:solidFill>
                <a:srgbClr val="9CDCFE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0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time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zh-TW" sz="10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time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zh-TW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zh-TW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"Python:</a:t>
            </a:r>
            <a:r>
              <a:rPr lang="zh-TW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zh-TW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start</a:t>
            </a:r>
            <a:r>
              <a:rPr lang="zh-TW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:.3f}</a:t>
            </a:r>
            <a:r>
              <a:rPr lang="zh-TW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lang="zh-TW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9" name="Google Shape;79;p16"/>
          <p:cNvSpPr txBox="1"/>
          <p:nvPr/>
        </p:nvSpPr>
        <p:spPr>
          <a:xfrm>
            <a:off x="413625" y="0"/>
            <a:ext cx="201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 u="sng">
                <a:solidFill>
                  <a:schemeClr val="lt2"/>
                </a:solidFill>
              </a:rPr>
              <a:t>main.py (python)</a:t>
            </a:r>
            <a:endParaRPr sz="1800" u="sng">
              <a:solidFill>
                <a:schemeClr val="lt2"/>
              </a:solidFill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4006988" y="0"/>
            <a:ext cx="1218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 u="sng">
                <a:solidFill>
                  <a:schemeClr val="lt2"/>
                </a:solidFill>
              </a:rPr>
              <a:t>main.c (c)</a:t>
            </a:r>
            <a:endParaRPr sz="1800" u="sng">
              <a:solidFill>
                <a:schemeClr val="lt2"/>
              </a:solidFill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7002725" y="0"/>
            <a:ext cx="155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 u="sng">
                <a:solidFill>
                  <a:schemeClr val="lt2"/>
                </a:solidFill>
              </a:rPr>
              <a:t>main.c (avx)</a:t>
            </a:r>
            <a:endParaRPr sz="1800" u="sng">
              <a:solidFill>
                <a:schemeClr val="lt2"/>
              </a:solidFill>
            </a:endParaRPr>
          </a:p>
        </p:txBody>
      </p:sp>
      <p:pic>
        <p:nvPicPr>
          <p:cNvPr id="82" name="Google Shape;8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38" y="4685675"/>
            <a:ext cx="2900700" cy="22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44850" y="4685675"/>
            <a:ext cx="2900700" cy="355571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6"/>
          <p:cNvSpPr txBox="1"/>
          <p:nvPr/>
        </p:nvSpPr>
        <p:spPr>
          <a:xfrm>
            <a:off x="3024825" y="461700"/>
            <a:ext cx="3147300" cy="36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5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lang="zh-TW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&lt;stdio.h&gt;</a:t>
            </a:r>
            <a:endParaRPr sz="1050">
              <a:solidFill>
                <a:srgbClr val="CE9178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5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lang="zh-TW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&lt;time.h&gt;</a:t>
            </a:r>
            <a:endParaRPr sz="1050">
              <a:solidFill>
                <a:srgbClr val="CE9178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0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zh-TW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N </a:t>
            </a:r>
            <a:r>
              <a:rPr lang="zh-TW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0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100000000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zh-TW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long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long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s </a:t>
            </a:r>
            <a:r>
              <a:rPr lang="zh-TW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0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zh-TW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clock_t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start </a:t>
            </a:r>
            <a:r>
              <a:rPr lang="zh-TW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0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clock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zh-TW" sz="105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zh-TW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i </a:t>
            </a:r>
            <a:r>
              <a:rPr lang="zh-TW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0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 i </a:t>
            </a:r>
            <a:r>
              <a:rPr lang="zh-TW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N; i</a:t>
            </a:r>
            <a:r>
              <a:rPr lang="zh-TW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++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s </a:t>
            </a:r>
            <a:r>
              <a:rPr lang="zh-TW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+=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i;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zh-TW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duration </a:t>
            </a:r>
            <a:r>
              <a:rPr lang="zh-TW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zh-TW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)(</a:t>
            </a:r>
            <a:r>
              <a:rPr lang="zh-TW" sz="10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clock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() </a:t>
            </a:r>
            <a:r>
              <a:rPr lang="zh-TW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start) </a:t>
            </a:r>
            <a:r>
              <a:rPr lang="zh-TW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CLOCKS_PER_SEC;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zh-TW" sz="10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printf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zh-TW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"C:</a:t>
            </a:r>
            <a:r>
              <a:rPr lang="zh-TW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%.3f</a:t>
            </a:r>
            <a:r>
              <a:rPr lang="zh-TW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lang="zh-TW" sz="1050">
                <a:solidFill>
                  <a:srgbClr val="D7BA7D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\n</a:t>
            </a:r>
            <a:r>
              <a:rPr lang="zh-TW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duration);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zh-TW" sz="105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0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85" name="Google Shape;85;p16"/>
          <p:cNvCxnSpPr/>
          <p:nvPr/>
        </p:nvCxnSpPr>
        <p:spPr>
          <a:xfrm>
            <a:off x="3056150" y="3750"/>
            <a:ext cx="0" cy="513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" name="Google Shape;86;p16"/>
          <p:cNvCxnSpPr/>
          <p:nvPr/>
        </p:nvCxnSpPr>
        <p:spPr>
          <a:xfrm>
            <a:off x="6190625" y="3750"/>
            <a:ext cx="0" cy="513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" name="Google Shape;87;p16"/>
          <p:cNvSpPr txBox="1"/>
          <p:nvPr/>
        </p:nvSpPr>
        <p:spPr>
          <a:xfrm>
            <a:off x="6209125" y="461700"/>
            <a:ext cx="3000000" cy="39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55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lang="zh-TW" sz="5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5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&lt;stdio.h&gt;</a:t>
            </a:r>
            <a:endParaRPr sz="550">
              <a:solidFill>
                <a:srgbClr val="CE9178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55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lang="zh-TW" sz="5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5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&lt;time.h&gt;</a:t>
            </a:r>
            <a:endParaRPr sz="550">
              <a:solidFill>
                <a:srgbClr val="CE9178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55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lang="zh-TW" sz="5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5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&lt;immintrin.h&gt;</a:t>
            </a:r>
            <a:endParaRPr sz="550">
              <a:solidFill>
                <a:srgbClr val="CE9178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5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zh-TW" sz="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5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zh-TW" sz="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sz="5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zh-TW" sz="5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zh-TW" sz="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5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zh-TW" sz="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N </a:t>
            </a:r>
            <a:r>
              <a:rPr lang="zh-TW" sz="5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zh-TW" sz="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5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100000000</a:t>
            </a:r>
            <a:r>
              <a:rPr lang="zh-TW" sz="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5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zh-TW" sz="5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long</a:t>
            </a:r>
            <a:r>
              <a:rPr lang="zh-TW" sz="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5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long</a:t>
            </a:r>
            <a:r>
              <a:rPr lang="zh-TW" sz="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s </a:t>
            </a:r>
            <a:r>
              <a:rPr lang="zh-TW" sz="5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zh-TW" sz="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5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zh-TW" sz="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5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__m256i vsum </a:t>
            </a:r>
            <a:r>
              <a:rPr lang="zh-TW" sz="5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zh-TW" sz="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5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_mm256_setzero_si256</a:t>
            </a:r>
            <a:r>
              <a:rPr lang="zh-TW" sz="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r>
              <a:rPr lang="zh-TW" sz="550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// 256-bit 累加變數</a:t>
            </a:r>
            <a:endParaRPr sz="550">
              <a:solidFill>
                <a:srgbClr val="6A995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zh-TW" sz="5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clock_t</a:t>
            </a:r>
            <a:r>
              <a:rPr lang="zh-TW" sz="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start </a:t>
            </a:r>
            <a:r>
              <a:rPr lang="zh-TW" sz="5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zh-TW" sz="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5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clock</a:t>
            </a:r>
            <a:r>
              <a:rPr lang="zh-TW" sz="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5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zh-TW" sz="550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// AVX 向量化迴圈</a:t>
            </a:r>
            <a:endParaRPr sz="550">
              <a:solidFill>
                <a:srgbClr val="6A995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zh-TW" sz="5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zh-TW" sz="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i;</a:t>
            </a:r>
            <a:endParaRPr sz="5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zh-TW" sz="55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zh-TW" sz="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(i </a:t>
            </a:r>
            <a:r>
              <a:rPr lang="zh-TW" sz="5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zh-TW" sz="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5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zh-TW" sz="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 i </a:t>
            </a:r>
            <a:r>
              <a:rPr lang="zh-TW" sz="5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&lt;=</a:t>
            </a:r>
            <a:r>
              <a:rPr lang="zh-TW" sz="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N </a:t>
            </a:r>
            <a:r>
              <a:rPr lang="zh-TW" sz="5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zh-TW" sz="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5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zh-TW" sz="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 i </a:t>
            </a:r>
            <a:r>
              <a:rPr lang="zh-TW" sz="5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+=</a:t>
            </a:r>
            <a:r>
              <a:rPr lang="zh-TW" sz="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5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zh-TW" sz="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5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__m256i v </a:t>
            </a:r>
            <a:r>
              <a:rPr lang="zh-TW" sz="5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zh-TW" sz="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5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_mm256_set_epi64x</a:t>
            </a:r>
            <a:r>
              <a:rPr lang="zh-TW" sz="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(i </a:t>
            </a:r>
            <a:r>
              <a:rPr lang="zh-TW" sz="5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zh-TW" sz="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5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zh-TW" sz="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i </a:t>
            </a:r>
            <a:r>
              <a:rPr lang="zh-TW" sz="5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zh-TW" sz="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5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zh-TW" sz="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i </a:t>
            </a:r>
            <a:r>
              <a:rPr lang="zh-TW" sz="5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zh-TW" sz="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5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zh-TW" sz="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i);</a:t>
            </a:r>
            <a:endParaRPr sz="5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vsum </a:t>
            </a:r>
            <a:r>
              <a:rPr lang="zh-TW" sz="5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zh-TW" sz="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5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_mm256_add_epi64</a:t>
            </a:r>
            <a:r>
              <a:rPr lang="zh-TW" sz="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(vsum, v);</a:t>
            </a:r>
            <a:endParaRPr sz="5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5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zh-TW" sz="550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// 把 vsum 轉回一般數值</a:t>
            </a:r>
            <a:endParaRPr sz="550">
              <a:solidFill>
                <a:srgbClr val="6A995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zh-TW" sz="5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long</a:t>
            </a:r>
            <a:r>
              <a:rPr lang="zh-TW" sz="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5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long</a:t>
            </a:r>
            <a:r>
              <a:rPr lang="zh-TW" sz="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5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temp</a:t>
            </a:r>
            <a:r>
              <a:rPr lang="zh-TW" sz="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zh-TW" sz="5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zh-TW" sz="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sz="5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zh-TW" sz="5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_mm256_storeu_si256</a:t>
            </a:r>
            <a:r>
              <a:rPr lang="zh-TW" sz="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((__m256i</a:t>
            </a:r>
            <a:r>
              <a:rPr lang="zh-TW" sz="5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zh-TW" sz="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)temp, vsum);</a:t>
            </a:r>
            <a:endParaRPr sz="5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s </a:t>
            </a:r>
            <a:r>
              <a:rPr lang="zh-TW" sz="5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zh-TW" sz="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5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temp</a:t>
            </a:r>
            <a:r>
              <a:rPr lang="zh-TW" sz="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zh-TW" sz="5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zh-TW" sz="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lang="zh-TW" sz="5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zh-TW" sz="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5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temp</a:t>
            </a:r>
            <a:r>
              <a:rPr lang="zh-TW" sz="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zh-TW" sz="5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zh-TW" sz="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lang="zh-TW" sz="5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zh-TW" sz="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5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temp</a:t>
            </a:r>
            <a:r>
              <a:rPr lang="zh-TW" sz="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zh-TW" sz="5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zh-TW" sz="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lang="zh-TW" sz="5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zh-TW" sz="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5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temp</a:t>
            </a:r>
            <a:r>
              <a:rPr lang="zh-TW" sz="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zh-TW" sz="5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zh-TW" sz="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sz="5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zh-TW" sz="550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// 處理剩餘元素</a:t>
            </a:r>
            <a:endParaRPr sz="550">
              <a:solidFill>
                <a:srgbClr val="6A995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zh-TW" sz="55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zh-TW" sz="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(; i </a:t>
            </a:r>
            <a:r>
              <a:rPr lang="zh-TW" sz="5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zh-TW" sz="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N; i</a:t>
            </a:r>
            <a:r>
              <a:rPr lang="zh-TW" sz="5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++</a:t>
            </a:r>
            <a:r>
              <a:rPr lang="zh-TW" sz="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5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s </a:t>
            </a:r>
            <a:r>
              <a:rPr lang="zh-TW" sz="5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+=</a:t>
            </a:r>
            <a:r>
              <a:rPr lang="zh-TW" sz="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i;</a:t>
            </a:r>
            <a:endParaRPr sz="5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5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zh-TW" sz="5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lang="zh-TW" sz="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duration </a:t>
            </a:r>
            <a:r>
              <a:rPr lang="zh-TW" sz="5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zh-TW" sz="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zh-TW" sz="5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lang="zh-TW" sz="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)(</a:t>
            </a:r>
            <a:r>
              <a:rPr lang="zh-TW" sz="5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clock</a:t>
            </a:r>
            <a:r>
              <a:rPr lang="zh-TW" sz="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() </a:t>
            </a:r>
            <a:r>
              <a:rPr lang="zh-TW" sz="5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zh-TW" sz="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start) </a:t>
            </a:r>
            <a:r>
              <a:rPr lang="zh-TW" sz="5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zh-TW" sz="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CLOCKS_PER_SEC;</a:t>
            </a:r>
            <a:endParaRPr sz="5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zh-TW" sz="5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printf</a:t>
            </a:r>
            <a:r>
              <a:rPr lang="zh-TW" sz="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zh-TW" sz="5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"AVX2:</a:t>
            </a:r>
            <a:r>
              <a:rPr lang="zh-TW" sz="5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%.3f</a:t>
            </a:r>
            <a:r>
              <a:rPr lang="zh-TW" sz="5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lang="zh-TW" sz="550">
                <a:solidFill>
                  <a:srgbClr val="D7BA7D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\n</a:t>
            </a:r>
            <a:r>
              <a:rPr lang="zh-TW" sz="5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zh-TW" sz="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,duration);</a:t>
            </a:r>
            <a:endParaRPr sz="5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zh-TW" sz="55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zh-TW" sz="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5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zh-TW" sz="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5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5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5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35711" y="4685673"/>
            <a:ext cx="2600277" cy="221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/>
          <p:nvPr/>
        </p:nvSpPr>
        <p:spPr>
          <a:xfrm>
            <a:off x="581125" y="4214050"/>
            <a:ext cx="1683415" cy="35557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lt2"/>
                </a:solidFill>
                <a:latin typeface="Arial"/>
              </a:rPr>
              <a:t>3.695秒</a:t>
            </a:r>
          </a:p>
        </p:txBody>
      </p:sp>
      <p:sp>
        <p:nvSpPr>
          <p:cNvPr id="90" name="Google Shape;90;p16"/>
          <p:cNvSpPr/>
          <p:nvPr/>
        </p:nvSpPr>
        <p:spPr>
          <a:xfrm>
            <a:off x="3730300" y="4214050"/>
            <a:ext cx="1683415" cy="35557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lt2"/>
                </a:solidFill>
                <a:latin typeface="Arial"/>
              </a:rPr>
              <a:t>0.163秒</a:t>
            </a:r>
          </a:p>
        </p:txBody>
      </p:sp>
      <p:sp>
        <p:nvSpPr>
          <p:cNvPr id="91" name="Google Shape;91;p16"/>
          <p:cNvSpPr/>
          <p:nvPr/>
        </p:nvSpPr>
        <p:spPr>
          <a:xfrm>
            <a:off x="6794137" y="4214050"/>
            <a:ext cx="1683415" cy="35557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lt2"/>
                </a:solidFill>
                <a:latin typeface="Arial"/>
              </a:rPr>
              <a:t>0.092秒</a:t>
            </a: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/>
        </p:nvSpPr>
        <p:spPr>
          <a:xfrm>
            <a:off x="5856875" y="0"/>
            <a:ext cx="1744500" cy="34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 u="sng">
                <a:solidFill>
                  <a:schemeClr val="lt2"/>
                </a:solidFill>
              </a:rPr>
              <a:t>main.cu (cuda)</a:t>
            </a:r>
            <a:endParaRPr sz="1800" u="sng">
              <a:solidFill>
                <a:schemeClr val="lt2"/>
              </a:solidFill>
            </a:endParaRPr>
          </a:p>
        </p:txBody>
      </p:sp>
      <p:sp>
        <p:nvSpPr>
          <p:cNvPr id="97" name="Google Shape;97;p17"/>
          <p:cNvSpPr txBox="1"/>
          <p:nvPr/>
        </p:nvSpPr>
        <p:spPr>
          <a:xfrm>
            <a:off x="4723025" y="450775"/>
            <a:ext cx="1980900" cy="34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0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lang="zh-TW" sz="4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4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&lt;stdio.h&gt;</a:t>
            </a:r>
            <a:endParaRPr sz="400">
              <a:solidFill>
                <a:srgbClr val="CE9178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0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lang="zh-TW" sz="4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4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&lt;stdlib.h&gt;</a:t>
            </a:r>
            <a:endParaRPr sz="400">
              <a:solidFill>
                <a:srgbClr val="CE9178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0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lang="zh-TW" sz="4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4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&lt;cuda_runtime.h&gt;</a:t>
            </a:r>
            <a:endParaRPr sz="400">
              <a:solidFill>
                <a:srgbClr val="CE9178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0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lang="zh-TW" sz="4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4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&lt;time.h&gt;</a:t>
            </a:r>
            <a:endParaRPr sz="400">
              <a:solidFill>
                <a:srgbClr val="CE9178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0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#define</a:t>
            </a:r>
            <a:r>
              <a:rPr lang="zh-TW" sz="4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THREADS_PER_BLOCK </a:t>
            </a:r>
            <a:r>
              <a:rPr lang="zh-TW" sz="40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256</a:t>
            </a:r>
            <a:endParaRPr sz="400">
              <a:solidFill>
                <a:srgbClr val="B5CEA8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00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// **GPU 核心函數（Block Reduction）**</a:t>
            </a:r>
            <a:endParaRPr sz="400">
              <a:solidFill>
                <a:srgbClr val="6A995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__global__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4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40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global_sum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zh-TW" sz="4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4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zh-TW" sz="4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long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4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long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4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zh-TW" sz="4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partial_sums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4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zh-TW" sz="4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__shared__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4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long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4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long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4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sharedSum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[THREADS_PER_BLOCK];</a:t>
            </a:r>
            <a:endParaRPr sz="4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zh-TW" sz="4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idx </a:t>
            </a:r>
            <a:r>
              <a:rPr lang="zh-TW" sz="4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4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blockIdx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.x </a:t>
            </a:r>
            <a:r>
              <a:rPr lang="zh-TW" sz="4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4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blockDim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.x </a:t>
            </a:r>
            <a:r>
              <a:rPr lang="zh-TW" sz="4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4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threadIdx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.x;</a:t>
            </a:r>
            <a:endParaRPr sz="4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zh-TW" sz="4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long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4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long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local_sum </a:t>
            </a:r>
            <a:r>
              <a:rPr lang="zh-TW" sz="4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40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4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zh-TW" sz="400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// **每個 Thread 計算多個數值，而不是只算一個**</a:t>
            </a:r>
            <a:endParaRPr sz="400">
              <a:solidFill>
                <a:srgbClr val="6A995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zh-TW" sz="40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zh-TW" sz="4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i </a:t>
            </a:r>
            <a:r>
              <a:rPr lang="zh-TW" sz="4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idx; i </a:t>
            </a:r>
            <a:r>
              <a:rPr lang="zh-TW" sz="4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N; i </a:t>
            </a:r>
            <a:r>
              <a:rPr lang="zh-TW" sz="4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+=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4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gridDim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.x </a:t>
            </a:r>
            <a:r>
              <a:rPr lang="zh-TW" sz="4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4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blockDim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.x) {</a:t>
            </a:r>
            <a:endParaRPr sz="4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local_sum </a:t>
            </a:r>
            <a:r>
              <a:rPr lang="zh-TW" sz="4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+=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i;</a:t>
            </a:r>
            <a:endParaRPr sz="4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4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zh-TW" sz="4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sharedSum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zh-TW" sz="4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threadIdx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zh-TW" sz="4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lang="zh-TW" sz="4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local_sum;</a:t>
            </a:r>
            <a:endParaRPr sz="4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zh-TW" sz="40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__syncthreads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4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zh-TW" sz="400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// **Block Reduction**</a:t>
            </a:r>
            <a:endParaRPr sz="400">
              <a:solidFill>
                <a:srgbClr val="6A995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zh-TW" sz="40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zh-TW" sz="4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stride </a:t>
            </a:r>
            <a:r>
              <a:rPr lang="zh-TW" sz="4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4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blockDim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.x </a:t>
            </a:r>
            <a:r>
              <a:rPr lang="zh-TW" sz="4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40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 stride </a:t>
            </a:r>
            <a:r>
              <a:rPr lang="zh-TW" sz="4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40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 stride </a:t>
            </a:r>
            <a:r>
              <a:rPr lang="zh-TW" sz="4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/=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40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4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zh-TW" sz="40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zh-TW" sz="4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threadIdx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zh-TW" sz="4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4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stride) {</a:t>
            </a:r>
            <a:endParaRPr sz="4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zh-TW" sz="4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sharedSum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zh-TW" sz="4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threadIdx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zh-TW" sz="4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lang="zh-TW" sz="4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+=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4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sharedSum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zh-TW" sz="4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threadIdx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zh-TW" sz="4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4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stride];</a:t>
            </a:r>
            <a:endParaRPr sz="4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}</a:t>
            </a:r>
            <a:endParaRPr sz="4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zh-TW" sz="40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__syncthreads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4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4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zh-TW" sz="400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// **每個 Block 只保留一個結果**</a:t>
            </a:r>
            <a:endParaRPr sz="400">
              <a:solidFill>
                <a:srgbClr val="6A995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zh-TW" sz="40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zh-TW" sz="4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threadIdx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zh-TW" sz="4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4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40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4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zh-TW" sz="4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partial_sums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zh-TW" sz="4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blockIdx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zh-TW" sz="4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lang="zh-TW" sz="4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4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sharedSum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zh-TW" sz="40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sz="4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4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4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8" name="Google Shape;98;p17"/>
          <p:cNvSpPr txBox="1"/>
          <p:nvPr/>
        </p:nvSpPr>
        <p:spPr>
          <a:xfrm>
            <a:off x="6631925" y="450775"/>
            <a:ext cx="2555700" cy="34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40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sz="4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zh-TW" sz="4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N </a:t>
            </a:r>
            <a:r>
              <a:rPr lang="zh-TW" sz="4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40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100000000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4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zh-TW" sz="4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long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4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long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cpu_result </a:t>
            </a:r>
            <a:r>
              <a:rPr lang="zh-TW" sz="4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40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gpu_result </a:t>
            </a:r>
            <a:r>
              <a:rPr lang="zh-TW" sz="4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40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4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zh-TW" sz="400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// **GPU 計算**</a:t>
            </a:r>
            <a:endParaRPr sz="400">
              <a:solidFill>
                <a:srgbClr val="6A995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zh-TW" sz="4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long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4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long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4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d_partial_sums, </a:t>
            </a:r>
            <a:r>
              <a:rPr lang="zh-TW" sz="4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h_partial_sums;</a:t>
            </a:r>
            <a:endParaRPr sz="4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zh-TW" sz="4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numBlocks </a:t>
            </a:r>
            <a:r>
              <a:rPr lang="zh-TW" sz="4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(N </a:t>
            </a:r>
            <a:r>
              <a:rPr lang="zh-TW" sz="4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THREADS_PER_BLOCK </a:t>
            </a:r>
            <a:r>
              <a:rPr lang="zh-TW" sz="4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40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zh-TW" sz="4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THREADS_PER_BLOCK;</a:t>
            </a:r>
            <a:endParaRPr sz="4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h_partial_sums </a:t>
            </a:r>
            <a:r>
              <a:rPr lang="zh-TW" sz="4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zh-TW" sz="4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long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4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long</a:t>
            </a:r>
            <a:r>
              <a:rPr lang="zh-TW" sz="4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zh-TW" sz="40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malloc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(numBlocks </a:t>
            </a:r>
            <a:r>
              <a:rPr lang="zh-TW" sz="4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4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sizeof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zh-TW" sz="4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long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4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long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));</a:t>
            </a:r>
            <a:endParaRPr sz="4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zh-TW" sz="40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cudaMalloc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((</a:t>
            </a:r>
            <a:r>
              <a:rPr lang="zh-TW" sz="4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zh-TW" sz="4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**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zh-TW" sz="4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d_partial_sums, numBlocks </a:t>
            </a:r>
            <a:r>
              <a:rPr lang="zh-TW" sz="4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4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sizeof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zh-TW" sz="4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long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4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long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));</a:t>
            </a:r>
            <a:endParaRPr sz="4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zh-TW" sz="40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cudaMemset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(d_partial_sums, </a:t>
            </a:r>
            <a:r>
              <a:rPr lang="zh-TW" sz="40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numBlocks </a:t>
            </a:r>
            <a:r>
              <a:rPr lang="zh-TW" sz="4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4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sizeof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zh-TW" sz="4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long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4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long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));</a:t>
            </a:r>
            <a:endParaRPr sz="4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zh-TW" sz="40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cudaEvent_t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start_gpu, stop_gpu;</a:t>
            </a:r>
            <a:endParaRPr sz="4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zh-TW" sz="40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cudaEventCreate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zh-TW" sz="4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start_gpu);</a:t>
            </a:r>
            <a:endParaRPr sz="4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zh-TW" sz="40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cudaEventCreate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zh-TW" sz="4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stop_gpu);</a:t>
            </a:r>
            <a:endParaRPr sz="4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zh-TW" sz="40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cudaEventRecord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(start_gpu);</a:t>
            </a:r>
            <a:endParaRPr sz="4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zh-TW" sz="400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// ** 最佳化 GPU 計算**</a:t>
            </a:r>
            <a:endParaRPr sz="400">
              <a:solidFill>
                <a:srgbClr val="6A995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global_sum</a:t>
            </a:r>
            <a:r>
              <a:rPr lang="zh-TW" sz="4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&lt;&lt;&lt;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numBlocks, THREADS_PER_BLOCK</a:t>
            </a:r>
            <a:r>
              <a:rPr lang="zh-TW" sz="4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(N, d_partial_sums);</a:t>
            </a:r>
            <a:endParaRPr sz="4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zh-TW" sz="40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cudaEventRecord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(stop_gpu);</a:t>
            </a:r>
            <a:endParaRPr sz="4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zh-TW" sz="40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cudaDeviceSynchronize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4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zh-TW" sz="400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// **將所有 Block 的結果傳回 CPU**</a:t>
            </a:r>
            <a:endParaRPr sz="400">
              <a:solidFill>
                <a:srgbClr val="6A995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zh-TW" sz="40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cudaMemcpy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(h_partial_sums, d_partial_sums, numBlocks </a:t>
            </a:r>
            <a:r>
              <a:rPr lang="zh-TW" sz="4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4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sizeof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zh-TW" sz="4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long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4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long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), cudaMemcpyDeviceToHost);</a:t>
            </a:r>
            <a:endParaRPr sz="4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zh-TW" sz="40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cudaFree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(d_partial_sums);</a:t>
            </a:r>
            <a:endParaRPr sz="4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00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// **CPU 最後一步合併所有 Block 結果**</a:t>
            </a:r>
            <a:endParaRPr sz="400">
              <a:solidFill>
                <a:srgbClr val="6A995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zh-TW" sz="40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zh-TW" sz="4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i </a:t>
            </a:r>
            <a:r>
              <a:rPr lang="zh-TW" sz="4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40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 i </a:t>
            </a:r>
            <a:r>
              <a:rPr lang="zh-TW" sz="4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numBlocks; i</a:t>
            </a:r>
            <a:r>
              <a:rPr lang="zh-TW" sz="4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++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4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gpu_result </a:t>
            </a:r>
            <a:r>
              <a:rPr lang="zh-TW" sz="4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+=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4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h_partial_sums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[i];</a:t>
            </a:r>
            <a:endParaRPr sz="4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4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zh-TW" sz="40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free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(h_partial_sums);</a:t>
            </a:r>
            <a:endParaRPr sz="4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zh-TW" sz="40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cudaEventSynchronize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(stop_gpu);</a:t>
            </a:r>
            <a:endParaRPr sz="4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zh-TW" sz="4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float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gpu_time;</a:t>
            </a:r>
            <a:endParaRPr sz="4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zh-TW" sz="40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cudaEventElapsedTime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zh-TW" sz="4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gpu_time, start_gpu, stop_gpu);</a:t>
            </a:r>
            <a:endParaRPr sz="4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zh-TW" sz="40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printf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zh-TW" sz="4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"GPU: </a:t>
            </a:r>
            <a:r>
              <a:rPr lang="zh-TW" sz="4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%f</a:t>
            </a:r>
            <a:r>
              <a:rPr lang="zh-TW" sz="4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s\n"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gpu_time </a:t>
            </a:r>
            <a:r>
              <a:rPr lang="zh-TW" sz="4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40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1000.0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4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zh-TW" sz="40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40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4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4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99" name="Google Shape;9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1877" y="4426696"/>
            <a:ext cx="3000000" cy="51097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7"/>
          <p:cNvSpPr txBox="1"/>
          <p:nvPr/>
        </p:nvSpPr>
        <p:spPr>
          <a:xfrm>
            <a:off x="161100" y="894925"/>
            <a:ext cx="4410900" cy="25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0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zh-TW" sz="6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torch</a:t>
            </a:r>
            <a:endParaRPr sz="6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0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zh-TW" sz="6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60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time</a:t>
            </a:r>
            <a:endParaRPr sz="600">
              <a:solidFill>
                <a:srgbClr val="4EC9B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00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# 設定 GPU</a:t>
            </a:r>
            <a:endParaRPr sz="600">
              <a:solidFill>
                <a:srgbClr val="6A995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device</a:t>
            </a:r>
            <a:r>
              <a:rPr lang="zh-TW" sz="6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6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zh-TW" sz="6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60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torch</a:t>
            </a:r>
            <a:r>
              <a:rPr lang="zh-TW" sz="6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.device(</a:t>
            </a:r>
            <a:r>
              <a:rPr lang="zh-TW" sz="6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"cuda"</a:t>
            </a:r>
            <a:r>
              <a:rPr lang="zh-TW" sz="6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60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zh-TW" sz="6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60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torch</a:t>
            </a:r>
            <a:r>
              <a:rPr lang="zh-TW" sz="6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.cuda.is_available() </a:t>
            </a:r>
            <a:r>
              <a:rPr lang="zh-TW" sz="60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lang="zh-TW" sz="6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6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"cpu"</a:t>
            </a:r>
            <a:r>
              <a:rPr lang="zh-TW" sz="6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6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00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# 設定數列大小</a:t>
            </a:r>
            <a:endParaRPr sz="600">
              <a:solidFill>
                <a:srgbClr val="6A995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00">
                <a:solidFill>
                  <a:srgbClr val="4FC1FF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zh-TW" sz="6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6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zh-TW" sz="6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60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100000000</a:t>
            </a:r>
            <a:endParaRPr sz="600">
              <a:solidFill>
                <a:srgbClr val="B5CEA8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start_gpu</a:t>
            </a:r>
            <a:r>
              <a:rPr lang="zh-TW" sz="6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6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zh-TW" sz="6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60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time</a:t>
            </a:r>
            <a:r>
              <a:rPr lang="zh-TW" sz="6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zh-TW" sz="60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time</a:t>
            </a:r>
            <a:r>
              <a:rPr lang="zh-TW" sz="6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6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00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# **創建 GPU Tensor，並進行求和**</a:t>
            </a:r>
            <a:endParaRPr sz="600">
              <a:solidFill>
                <a:srgbClr val="6A995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nums</a:t>
            </a:r>
            <a:r>
              <a:rPr lang="zh-TW" sz="6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6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zh-TW" sz="6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60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torch</a:t>
            </a:r>
            <a:r>
              <a:rPr lang="zh-TW" sz="6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.arange(</a:t>
            </a:r>
            <a:r>
              <a:rPr lang="zh-TW" sz="600">
                <a:solidFill>
                  <a:srgbClr val="4FC1FF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zh-TW" sz="6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zh-TW" sz="6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dtype</a:t>
            </a:r>
            <a:r>
              <a:rPr lang="zh-TW" sz="6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zh-TW" sz="60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torch</a:t>
            </a:r>
            <a:r>
              <a:rPr lang="zh-TW" sz="6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.long, </a:t>
            </a:r>
            <a:r>
              <a:rPr lang="zh-TW" sz="6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device</a:t>
            </a:r>
            <a:r>
              <a:rPr lang="zh-TW" sz="6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zh-TW" sz="6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device</a:t>
            </a:r>
            <a:r>
              <a:rPr lang="zh-TW" sz="6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6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gpu_result</a:t>
            </a:r>
            <a:r>
              <a:rPr lang="zh-TW" sz="6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6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zh-TW" sz="6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60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torch</a:t>
            </a:r>
            <a:r>
              <a:rPr lang="zh-TW" sz="6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.sum(</a:t>
            </a:r>
            <a:r>
              <a:rPr lang="zh-TW" sz="6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nums</a:t>
            </a:r>
            <a:r>
              <a:rPr lang="zh-TW" sz="6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6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end_gpu</a:t>
            </a:r>
            <a:r>
              <a:rPr lang="zh-TW" sz="6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6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zh-TW" sz="6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60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time</a:t>
            </a:r>
            <a:r>
              <a:rPr lang="zh-TW" sz="6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zh-TW" sz="60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time</a:t>
            </a:r>
            <a:r>
              <a:rPr lang="zh-TW" sz="6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6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0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zh-TW" sz="6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zh-TW" sz="6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"GPU: </a:t>
            </a:r>
            <a:r>
              <a:rPr lang="zh-TW" sz="6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{}</a:t>
            </a:r>
            <a:r>
              <a:rPr lang="zh-TW" sz="6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s"</a:t>
            </a:r>
            <a:r>
              <a:rPr lang="zh-TW" sz="6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zh-TW" sz="60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format</a:t>
            </a:r>
            <a:r>
              <a:rPr lang="zh-TW" sz="6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zh-TW" sz="6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end_gpu</a:t>
            </a:r>
            <a:r>
              <a:rPr lang="zh-TW" sz="6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6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zh-TW" sz="6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6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start_gpu</a:t>
            </a:r>
            <a:r>
              <a:rPr lang="zh-TW" sz="6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sz="6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01" name="Google Shape;10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4725" y="4562550"/>
            <a:ext cx="3000000" cy="23926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2" name="Google Shape;102;p17"/>
          <p:cNvCxnSpPr/>
          <p:nvPr/>
        </p:nvCxnSpPr>
        <p:spPr>
          <a:xfrm>
            <a:off x="4482700" y="3750"/>
            <a:ext cx="0" cy="513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" name="Google Shape;103;p17"/>
          <p:cNvSpPr txBox="1"/>
          <p:nvPr/>
        </p:nvSpPr>
        <p:spPr>
          <a:xfrm>
            <a:off x="866550" y="0"/>
            <a:ext cx="3000000" cy="34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 u="sng">
                <a:solidFill>
                  <a:schemeClr val="lt2"/>
                </a:solidFill>
              </a:rPr>
              <a:t>main.py (torch [to(“cuda”)])</a:t>
            </a:r>
            <a:endParaRPr sz="1800" u="sng">
              <a:solidFill>
                <a:schemeClr val="lt2"/>
              </a:solidFill>
            </a:endParaRPr>
          </a:p>
        </p:txBody>
      </p:sp>
      <p:sp>
        <p:nvSpPr>
          <p:cNvPr id="104" name="Google Shape;104;p17"/>
          <p:cNvSpPr/>
          <p:nvPr/>
        </p:nvSpPr>
        <p:spPr>
          <a:xfrm>
            <a:off x="1363012" y="4071125"/>
            <a:ext cx="1957895" cy="35557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lt2"/>
                </a:solidFill>
                <a:latin typeface="Arial"/>
              </a:rPr>
              <a:t>0.2689秒</a:t>
            </a:r>
          </a:p>
        </p:txBody>
      </p:sp>
      <p:sp>
        <p:nvSpPr>
          <p:cNvPr id="105" name="Google Shape;105;p17"/>
          <p:cNvSpPr/>
          <p:nvPr/>
        </p:nvSpPr>
        <p:spPr>
          <a:xfrm>
            <a:off x="5612937" y="3981350"/>
            <a:ext cx="2232376" cy="35557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lt2"/>
                </a:solidFill>
                <a:latin typeface="Arial"/>
              </a:rPr>
              <a:t>0.00342秒</a:t>
            </a: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575" y="1437025"/>
            <a:ext cx="3688300" cy="34763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8"/>
          <p:cNvSpPr/>
          <p:nvPr/>
        </p:nvSpPr>
        <p:spPr>
          <a:xfrm>
            <a:off x="2744475" y="3714750"/>
            <a:ext cx="171900" cy="7239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112" name="Google Shape;112;p18"/>
          <p:cNvSpPr txBox="1"/>
          <p:nvPr/>
        </p:nvSpPr>
        <p:spPr>
          <a:xfrm>
            <a:off x="2968050" y="3905850"/>
            <a:ext cx="2092800" cy="34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chemeClr val="accent6"/>
                </a:solidFill>
              </a:rPr>
              <a:t>不同python版本執行結果不同</a:t>
            </a:r>
            <a:endParaRPr sz="1100">
              <a:solidFill>
                <a:schemeClr val="accent6"/>
              </a:solidFill>
            </a:endParaRPr>
          </a:p>
        </p:txBody>
      </p:sp>
      <p:pic>
        <p:nvPicPr>
          <p:cNvPr id="113" name="Google Shape;11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4575" y="0"/>
            <a:ext cx="2372525" cy="131807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8"/>
          <p:cNvSpPr/>
          <p:nvPr/>
        </p:nvSpPr>
        <p:spPr>
          <a:xfrm>
            <a:off x="292100" y="4572000"/>
            <a:ext cx="609600" cy="3048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pic>
        <p:nvPicPr>
          <p:cNvPr id="115" name="Google Shape;115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08975" y="4391500"/>
            <a:ext cx="4159275" cy="66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8"/>
          <p:cNvSpPr txBox="1"/>
          <p:nvPr/>
        </p:nvSpPr>
        <p:spPr>
          <a:xfrm>
            <a:off x="2323000" y="4247550"/>
            <a:ext cx="2440200" cy="34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rgbClr val="FF0000"/>
                </a:solidFill>
              </a:rPr>
              <a:t>[dmseg] 出現Segmentation Fault</a:t>
            </a:r>
            <a:endParaRPr sz="1200">
              <a:solidFill>
                <a:srgbClr val="FF0000"/>
              </a:solidFill>
            </a:endParaRPr>
          </a:p>
        </p:txBody>
      </p:sp>
      <p:pic>
        <p:nvPicPr>
          <p:cNvPr id="117" name="Google Shape;117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66850" y="204375"/>
            <a:ext cx="2372525" cy="18793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94675" y="2144150"/>
            <a:ext cx="2716880" cy="29131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9" name="Google Shape;119;p18"/>
          <p:cNvCxnSpPr/>
          <p:nvPr/>
        </p:nvCxnSpPr>
        <p:spPr>
          <a:xfrm>
            <a:off x="4482700" y="3750"/>
            <a:ext cx="0" cy="3885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" name="Google Shape;120;p18"/>
          <p:cNvSpPr txBox="1"/>
          <p:nvPr/>
        </p:nvSpPr>
        <p:spPr>
          <a:xfrm>
            <a:off x="6787050" y="4009425"/>
            <a:ext cx="1324500" cy="34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chemeClr val="accent6"/>
                </a:solidFill>
              </a:rPr>
              <a:t>執行效率明顯變快</a:t>
            </a:r>
            <a:endParaRPr sz="110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/>
        </p:nvSpPr>
        <p:spPr>
          <a:xfrm>
            <a:off x="3508000" y="2369625"/>
            <a:ext cx="430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126" name="Google Shape;126;p19"/>
          <p:cNvSpPr/>
          <p:nvPr/>
        </p:nvSpPr>
        <p:spPr>
          <a:xfrm>
            <a:off x="3624563" y="2222025"/>
            <a:ext cx="1894873" cy="699450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lt2"/>
                </a:solidFill>
                <a:latin typeface="Arial"/>
              </a:rPr>
              <a:t>原理</a:t>
            </a:r>
          </a:p>
        </p:txBody>
      </p:sp>
      <p:sp>
        <p:nvSpPr>
          <p:cNvPr id="127" name="Google Shape;127;p19"/>
          <p:cNvSpPr/>
          <p:nvPr/>
        </p:nvSpPr>
        <p:spPr>
          <a:xfrm>
            <a:off x="3439500" y="2014200"/>
            <a:ext cx="2265000" cy="11151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/>
          <p:nvPr/>
        </p:nvSpPr>
        <p:spPr>
          <a:xfrm>
            <a:off x="435850" y="1531050"/>
            <a:ext cx="1770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300">
                <a:solidFill>
                  <a:schemeClr val="lt2"/>
                </a:solidFill>
              </a:rPr>
              <a:t>2 + 3 = ?</a:t>
            </a:r>
            <a:endParaRPr sz="2300">
              <a:solidFill>
                <a:schemeClr val="lt2"/>
              </a:solidFill>
            </a:endParaRPr>
          </a:p>
        </p:txBody>
      </p:sp>
      <p:sp>
        <p:nvSpPr>
          <p:cNvPr id="133" name="Google Shape;133;p20"/>
          <p:cNvSpPr txBox="1"/>
          <p:nvPr/>
        </p:nvSpPr>
        <p:spPr>
          <a:xfrm>
            <a:off x="3018400" y="3755013"/>
            <a:ext cx="1555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lt2"/>
                </a:solidFill>
              </a:rPr>
              <a:t>3(d) = 011(b)</a:t>
            </a:r>
            <a:endParaRPr/>
          </a:p>
        </p:txBody>
      </p:sp>
      <p:sp>
        <p:nvSpPr>
          <p:cNvPr id="134" name="Google Shape;134;p20"/>
          <p:cNvSpPr txBox="1"/>
          <p:nvPr/>
        </p:nvSpPr>
        <p:spPr>
          <a:xfrm>
            <a:off x="3018400" y="2575038"/>
            <a:ext cx="1555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lt2"/>
                </a:solidFill>
              </a:rPr>
              <a:t>2(d) = 010(b)</a:t>
            </a:r>
            <a:endParaRPr/>
          </a:p>
        </p:txBody>
      </p:sp>
      <p:cxnSp>
        <p:nvCxnSpPr>
          <p:cNvPr id="135" name="Google Shape;135;p20"/>
          <p:cNvCxnSpPr/>
          <p:nvPr/>
        </p:nvCxnSpPr>
        <p:spPr>
          <a:xfrm>
            <a:off x="4573600" y="2655200"/>
            <a:ext cx="948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" name="Google Shape;136;p20"/>
          <p:cNvCxnSpPr/>
          <p:nvPr/>
        </p:nvCxnSpPr>
        <p:spPr>
          <a:xfrm>
            <a:off x="4573600" y="2807600"/>
            <a:ext cx="9489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" name="Google Shape;137;p20"/>
          <p:cNvCxnSpPr/>
          <p:nvPr/>
        </p:nvCxnSpPr>
        <p:spPr>
          <a:xfrm>
            <a:off x="4573600" y="2956600"/>
            <a:ext cx="948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" name="Google Shape;138;p20"/>
          <p:cNvCxnSpPr/>
          <p:nvPr/>
        </p:nvCxnSpPr>
        <p:spPr>
          <a:xfrm>
            <a:off x="4573600" y="3835175"/>
            <a:ext cx="948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9" name="Google Shape;139;p20"/>
          <p:cNvCxnSpPr/>
          <p:nvPr/>
        </p:nvCxnSpPr>
        <p:spPr>
          <a:xfrm>
            <a:off x="4573600" y="3987575"/>
            <a:ext cx="9489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" name="Google Shape;140;p20"/>
          <p:cNvCxnSpPr/>
          <p:nvPr/>
        </p:nvCxnSpPr>
        <p:spPr>
          <a:xfrm>
            <a:off x="4573600" y="4136575"/>
            <a:ext cx="9489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41" name="Google Shape;14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100" y="2195125"/>
            <a:ext cx="2401500" cy="240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0"/>
          <p:cNvSpPr/>
          <p:nvPr/>
        </p:nvSpPr>
        <p:spPr>
          <a:xfrm>
            <a:off x="2571975" y="3287575"/>
            <a:ext cx="446400" cy="216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3" name="Google Shape;143;p20"/>
          <p:cNvCxnSpPr>
            <a:stCxn id="144" idx="3"/>
          </p:cNvCxnSpPr>
          <p:nvPr/>
        </p:nvCxnSpPr>
        <p:spPr>
          <a:xfrm>
            <a:off x="6392400" y="2835075"/>
            <a:ext cx="296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" name="Google Shape;145;p20"/>
          <p:cNvCxnSpPr/>
          <p:nvPr/>
        </p:nvCxnSpPr>
        <p:spPr>
          <a:xfrm>
            <a:off x="6488850" y="3237025"/>
            <a:ext cx="42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" name="Google Shape;146;p20"/>
          <p:cNvSpPr/>
          <p:nvPr/>
        </p:nvSpPr>
        <p:spPr>
          <a:xfrm>
            <a:off x="5567150" y="3287575"/>
            <a:ext cx="446400" cy="216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0"/>
          <p:cNvSpPr/>
          <p:nvPr/>
        </p:nvSpPr>
        <p:spPr>
          <a:xfrm>
            <a:off x="6058200" y="2692275"/>
            <a:ext cx="334200" cy="285600"/>
          </a:xfrm>
          <a:prstGeom prst="rect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</a:t>
            </a:r>
            <a:endParaRPr/>
          </a:p>
        </p:txBody>
      </p:sp>
      <p:sp>
        <p:nvSpPr>
          <p:cNvPr id="147" name="Google Shape;147;p20"/>
          <p:cNvSpPr/>
          <p:nvPr/>
        </p:nvSpPr>
        <p:spPr>
          <a:xfrm>
            <a:off x="6173075" y="3066575"/>
            <a:ext cx="334200" cy="285600"/>
          </a:xfrm>
          <a:prstGeom prst="rect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B</a:t>
            </a:r>
            <a:endParaRPr/>
          </a:p>
        </p:txBody>
      </p:sp>
      <p:cxnSp>
        <p:nvCxnSpPr>
          <p:cNvPr id="148" name="Google Shape;148;p20"/>
          <p:cNvCxnSpPr>
            <a:stCxn id="147" idx="2"/>
          </p:cNvCxnSpPr>
          <p:nvPr/>
        </p:nvCxnSpPr>
        <p:spPr>
          <a:xfrm>
            <a:off x="6340175" y="3352175"/>
            <a:ext cx="0" cy="454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" name="Google Shape;149;p20"/>
          <p:cNvCxnSpPr/>
          <p:nvPr/>
        </p:nvCxnSpPr>
        <p:spPr>
          <a:xfrm>
            <a:off x="6360750" y="3803700"/>
            <a:ext cx="359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" name="Google Shape;150;p20"/>
          <p:cNvCxnSpPr/>
          <p:nvPr/>
        </p:nvCxnSpPr>
        <p:spPr>
          <a:xfrm>
            <a:off x="6115875" y="2968775"/>
            <a:ext cx="0" cy="977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" name="Google Shape;151;p20"/>
          <p:cNvCxnSpPr/>
          <p:nvPr/>
        </p:nvCxnSpPr>
        <p:spPr>
          <a:xfrm>
            <a:off x="6115875" y="3952175"/>
            <a:ext cx="599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2" name="Google Shape;152;p20"/>
          <p:cNvCxnSpPr/>
          <p:nvPr/>
        </p:nvCxnSpPr>
        <p:spPr>
          <a:xfrm>
            <a:off x="7364938" y="3115925"/>
            <a:ext cx="53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3" name="Google Shape;153;p20"/>
          <p:cNvSpPr/>
          <p:nvPr/>
        </p:nvSpPr>
        <p:spPr>
          <a:xfrm>
            <a:off x="7439400" y="2313375"/>
            <a:ext cx="554400" cy="285600"/>
          </a:xfrm>
          <a:prstGeom prst="rect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進位</a:t>
            </a:r>
            <a:endParaRPr/>
          </a:p>
        </p:txBody>
      </p:sp>
      <p:cxnSp>
        <p:nvCxnSpPr>
          <p:cNvPr id="154" name="Google Shape;154;p20"/>
          <p:cNvCxnSpPr/>
          <p:nvPr/>
        </p:nvCxnSpPr>
        <p:spPr>
          <a:xfrm>
            <a:off x="7716600" y="3010850"/>
            <a:ext cx="186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" name="Google Shape;155;p20"/>
          <p:cNvCxnSpPr>
            <a:stCxn id="153" idx="2"/>
          </p:cNvCxnSpPr>
          <p:nvPr/>
        </p:nvCxnSpPr>
        <p:spPr>
          <a:xfrm>
            <a:off x="7716600" y="2598975"/>
            <a:ext cx="0" cy="409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6" name="Google Shape;156;p20"/>
          <p:cNvCxnSpPr/>
          <p:nvPr/>
        </p:nvCxnSpPr>
        <p:spPr>
          <a:xfrm>
            <a:off x="8376000" y="3062775"/>
            <a:ext cx="198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7" name="Google Shape;157;p20"/>
          <p:cNvSpPr/>
          <p:nvPr/>
        </p:nvSpPr>
        <p:spPr>
          <a:xfrm>
            <a:off x="8574000" y="2954475"/>
            <a:ext cx="493800" cy="216600"/>
          </a:xfrm>
          <a:prstGeom prst="rect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800"/>
              <a:t>Result</a:t>
            </a:r>
            <a:endParaRPr sz="800"/>
          </a:p>
        </p:txBody>
      </p:sp>
      <p:cxnSp>
        <p:nvCxnSpPr>
          <p:cNvPr id="158" name="Google Shape;158;p20"/>
          <p:cNvCxnSpPr/>
          <p:nvPr/>
        </p:nvCxnSpPr>
        <p:spPr>
          <a:xfrm>
            <a:off x="7554350" y="2598975"/>
            <a:ext cx="0" cy="1190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" name="Google Shape;159;p20"/>
          <p:cNvCxnSpPr/>
          <p:nvPr/>
        </p:nvCxnSpPr>
        <p:spPr>
          <a:xfrm>
            <a:off x="7071000" y="3287575"/>
            <a:ext cx="0" cy="145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" name="Google Shape;160;p20"/>
          <p:cNvCxnSpPr/>
          <p:nvPr/>
        </p:nvCxnSpPr>
        <p:spPr>
          <a:xfrm>
            <a:off x="7065400" y="3432750"/>
            <a:ext cx="773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1" name="Google Shape;161;p20"/>
          <p:cNvSpPr/>
          <p:nvPr/>
        </p:nvSpPr>
        <p:spPr>
          <a:xfrm>
            <a:off x="7482450" y="3764575"/>
            <a:ext cx="468300" cy="255600"/>
          </a:xfrm>
          <a:prstGeom prst="rect">
            <a:avLst/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/>
              <a:t>AND</a:t>
            </a:r>
            <a:endParaRPr sz="1000"/>
          </a:p>
        </p:txBody>
      </p:sp>
      <p:sp>
        <p:nvSpPr>
          <p:cNvPr id="162" name="Google Shape;162;p20"/>
          <p:cNvSpPr/>
          <p:nvPr/>
        </p:nvSpPr>
        <p:spPr>
          <a:xfrm>
            <a:off x="6887275" y="3036750"/>
            <a:ext cx="468300" cy="255600"/>
          </a:xfrm>
          <a:prstGeom prst="rect">
            <a:avLst/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/>
              <a:t>XOR</a:t>
            </a:r>
            <a:endParaRPr sz="1000"/>
          </a:p>
        </p:txBody>
      </p:sp>
      <p:sp>
        <p:nvSpPr>
          <p:cNvPr id="163" name="Google Shape;163;p20"/>
          <p:cNvSpPr/>
          <p:nvPr/>
        </p:nvSpPr>
        <p:spPr>
          <a:xfrm>
            <a:off x="7907700" y="2934975"/>
            <a:ext cx="468300" cy="255600"/>
          </a:xfrm>
          <a:prstGeom prst="rect">
            <a:avLst/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/>
              <a:t>XOR</a:t>
            </a:r>
            <a:endParaRPr sz="1000"/>
          </a:p>
        </p:txBody>
      </p:sp>
      <p:cxnSp>
        <p:nvCxnSpPr>
          <p:cNvPr id="164" name="Google Shape;164;p20"/>
          <p:cNvCxnSpPr/>
          <p:nvPr/>
        </p:nvCxnSpPr>
        <p:spPr>
          <a:xfrm>
            <a:off x="6690550" y="2836675"/>
            <a:ext cx="0" cy="304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" name="Google Shape;165;p20"/>
          <p:cNvCxnSpPr/>
          <p:nvPr/>
        </p:nvCxnSpPr>
        <p:spPr>
          <a:xfrm>
            <a:off x="6690550" y="3140850"/>
            <a:ext cx="19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6" name="Google Shape;166;p20"/>
          <p:cNvSpPr/>
          <p:nvPr/>
        </p:nvSpPr>
        <p:spPr>
          <a:xfrm>
            <a:off x="6714975" y="3764575"/>
            <a:ext cx="468300" cy="255600"/>
          </a:xfrm>
          <a:prstGeom prst="rect">
            <a:avLst/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/>
              <a:t>AND</a:t>
            </a:r>
            <a:endParaRPr sz="1000"/>
          </a:p>
        </p:txBody>
      </p:sp>
      <p:cxnSp>
        <p:nvCxnSpPr>
          <p:cNvPr id="167" name="Google Shape;167;p20"/>
          <p:cNvCxnSpPr/>
          <p:nvPr/>
        </p:nvCxnSpPr>
        <p:spPr>
          <a:xfrm>
            <a:off x="7839100" y="343275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8" name="Google Shape;168;p20"/>
          <p:cNvSpPr/>
          <p:nvPr/>
        </p:nvSpPr>
        <p:spPr>
          <a:xfrm>
            <a:off x="7439400" y="4569975"/>
            <a:ext cx="554400" cy="285600"/>
          </a:xfrm>
          <a:prstGeom prst="rect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進位</a:t>
            </a:r>
            <a:endParaRPr/>
          </a:p>
        </p:txBody>
      </p:sp>
      <p:sp>
        <p:nvSpPr>
          <p:cNvPr id="169" name="Google Shape;169;p20"/>
          <p:cNvSpPr/>
          <p:nvPr/>
        </p:nvSpPr>
        <p:spPr>
          <a:xfrm>
            <a:off x="7482450" y="4167275"/>
            <a:ext cx="468300" cy="255600"/>
          </a:xfrm>
          <a:prstGeom prst="rect">
            <a:avLst/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/>
              <a:t>OR</a:t>
            </a:r>
            <a:endParaRPr sz="1000"/>
          </a:p>
        </p:txBody>
      </p:sp>
      <p:cxnSp>
        <p:nvCxnSpPr>
          <p:cNvPr id="170" name="Google Shape;170;p20"/>
          <p:cNvCxnSpPr>
            <a:stCxn id="161" idx="2"/>
          </p:cNvCxnSpPr>
          <p:nvPr/>
        </p:nvCxnSpPr>
        <p:spPr>
          <a:xfrm>
            <a:off x="7716600" y="4020175"/>
            <a:ext cx="0" cy="148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" name="Google Shape;171;p20"/>
          <p:cNvCxnSpPr>
            <a:stCxn id="166" idx="2"/>
          </p:cNvCxnSpPr>
          <p:nvPr/>
        </p:nvCxnSpPr>
        <p:spPr>
          <a:xfrm>
            <a:off x="6949125" y="4020175"/>
            <a:ext cx="0" cy="276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" name="Google Shape;172;p20"/>
          <p:cNvCxnSpPr>
            <a:endCxn id="169" idx="1"/>
          </p:cNvCxnSpPr>
          <p:nvPr/>
        </p:nvCxnSpPr>
        <p:spPr>
          <a:xfrm>
            <a:off x="6948750" y="4295075"/>
            <a:ext cx="533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" name="Google Shape;173;p20"/>
          <p:cNvCxnSpPr>
            <a:stCxn id="168" idx="0"/>
            <a:endCxn id="169" idx="2"/>
          </p:cNvCxnSpPr>
          <p:nvPr/>
        </p:nvCxnSpPr>
        <p:spPr>
          <a:xfrm rot="10800000">
            <a:off x="7716600" y="4422975"/>
            <a:ext cx="0" cy="147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4" name="Google Shape;174;p20"/>
          <p:cNvSpPr txBox="1"/>
          <p:nvPr/>
        </p:nvSpPr>
        <p:spPr>
          <a:xfrm>
            <a:off x="3472775" y="1531050"/>
            <a:ext cx="21708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300">
                <a:solidFill>
                  <a:schemeClr val="lt2"/>
                </a:solidFill>
              </a:rPr>
              <a:t>010 + 011 = ?</a:t>
            </a:r>
            <a:endParaRPr sz="2300">
              <a:solidFill>
                <a:schemeClr val="lt2"/>
              </a:solidFill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1788000" y="184425"/>
            <a:ext cx="312600" cy="267900"/>
          </a:xfrm>
          <a:prstGeom prst="ellipse">
            <a:avLst/>
          </a:prstGeom>
          <a:solidFill>
            <a:schemeClr val="dk1"/>
          </a:solidFill>
          <a:ln cap="flat" cmpd="sng" w="381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6" name="Google Shape;176;p20"/>
          <p:cNvCxnSpPr/>
          <p:nvPr/>
        </p:nvCxnSpPr>
        <p:spPr>
          <a:xfrm>
            <a:off x="2100600" y="318375"/>
            <a:ext cx="1339500" cy="0"/>
          </a:xfrm>
          <a:prstGeom prst="straightConnector1">
            <a:avLst/>
          </a:prstGeom>
          <a:noFill/>
          <a:ln cap="flat" cmpd="sng" w="38100">
            <a:solidFill>
              <a:srgbClr val="00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7" name="Google Shape;177;p20"/>
          <p:cNvSpPr/>
          <p:nvPr/>
        </p:nvSpPr>
        <p:spPr>
          <a:xfrm>
            <a:off x="3440100" y="184425"/>
            <a:ext cx="312600" cy="267900"/>
          </a:xfrm>
          <a:prstGeom prst="ellipse">
            <a:avLst/>
          </a:prstGeom>
          <a:solidFill>
            <a:schemeClr val="dk1"/>
          </a:solidFill>
          <a:ln cap="flat" cmpd="sng" w="38100">
            <a:solidFill>
              <a:srgbClr val="00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0"/>
          <p:cNvSpPr/>
          <p:nvPr/>
        </p:nvSpPr>
        <p:spPr>
          <a:xfrm>
            <a:off x="5206500" y="184425"/>
            <a:ext cx="312600" cy="267900"/>
          </a:xfrm>
          <a:prstGeom prst="ellipse">
            <a:avLst/>
          </a:prstGeom>
          <a:solidFill>
            <a:schemeClr val="dk1"/>
          </a:solidFill>
          <a:ln cap="flat" cmpd="sng" w="38100">
            <a:solidFill>
              <a:srgbClr val="00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9" name="Google Shape;179;p20"/>
          <p:cNvCxnSpPr>
            <a:stCxn id="177" idx="6"/>
            <a:endCxn id="178" idx="2"/>
          </p:cNvCxnSpPr>
          <p:nvPr/>
        </p:nvCxnSpPr>
        <p:spPr>
          <a:xfrm>
            <a:off x="3752700" y="318375"/>
            <a:ext cx="1453800" cy="0"/>
          </a:xfrm>
          <a:prstGeom prst="straightConnector1">
            <a:avLst/>
          </a:prstGeom>
          <a:noFill/>
          <a:ln cap="flat" cmpd="sng" w="38100">
            <a:solidFill>
              <a:srgbClr val="00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0" name="Google Shape;180;p20"/>
          <p:cNvSpPr txBox="1"/>
          <p:nvPr/>
        </p:nvSpPr>
        <p:spPr>
          <a:xfrm>
            <a:off x="1497750" y="661300"/>
            <a:ext cx="893100" cy="461700"/>
          </a:xfrm>
          <a:prstGeom prst="rect">
            <a:avLst/>
          </a:pr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rgbClr val="FFFF00"/>
                </a:solidFill>
              </a:rPr>
              <a:t>機械碼</a:t>
            </a:r>
            <a:endParaRPr sz="1800">
              <a:solidFill>
                <a:srgbClr val="FFFF00"/>
              </a:solidFill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3008550" y="661275"/>
            <a:ext cx="1192500" cy="461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lt2"/>
                </a:solidFill>
              </a:rPr>
              <a:t>組合語言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4801950" y="661275"/>
            <a:ext cx="1121700" cy="461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lt2"/>
                </a:solidFill>
              </a:rPr>
              <a:t>直譯語言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6524550" y="661275"/>
            <a:ext cx="1121700" cy="461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lt2"/>
                </a:solidFill>
              </a:rPr>
              <a:t>編譯語言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6929100" y="184425"/>
            <a:ext cx="312600" cy="267900"/>
          </a:xfrm>
          <a:prstGeom prst="ellipse">
            <a:avLst/>
          </a:prstGeom>
          <a:solidFill>
            <a:schemeClr val="dk1"/>
          </a:solidFill>
          <a:ln cap="flat" cmpd="sng" w="38100">
            <a:solidFill>
              <a:srgbClr val="00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5" name="Google Shape;185;p20"/>
          <p:cNvCxnSpPr>
            <a:stCxn id="184" idx="2"/>
            <a:endCxn id="178" idx="6"/>
          </p:cNvCxnSpPr>
          <p:nvPr/>
        </p:nvCxnSpPr>
        <p:spPr>
          <a:xfrm rot="10800000">
            <a:off x="5519100" y="318375"/>
            <a:ext cx="1410000" cy="0"/>
          </a:xfrm>
          <a:prstGeom prst="straightConnector1">
            <a:avLst/>
          </a:prstGeom>
          <a:noFill/>
          <a:ln cap="flat" cmpd="sng" w="38100">
            <a:solidFill>
              <a:srgbClr val="00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6" name="Google Shape;186;p20"/>
          <p:cNvSpPr txBox="1"/>
          <p:nvPr/>
        </p:nvSpPr>
        <p:spPr>
          <a:xfrm>
            <a:off x="7011600" y="1547913"/>
            <a:ext cx="1410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300">
                <a:solidFill>
                  <a:schemeClr val="lt2"/>
                </a:solidFill>
              </a:rPr>
              <a:t>邏輯實現</a:t>
            </a:r>
            <a:endParaRPr sz="23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1"/>
          <p:cNvSpPr/>
          <p:nvPr/>
        </p:nvSpPr>
        <p:spPr>
          <a:xfrm>
            <a:off x="3440100" y="184425"/>
            <a:ext cx="312600" cy="267900"/>
          </a:xfrm>
          <a:prstGeom prst="ellipse">
            <a:avLst/>
          </a:prstGeom>
          <a:solidFill>
            <a:schemeClr val="dk1"/>
          </a:solidFill>
          <a:ln cap="flat" cmpd="sng" w="381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192" name="Google Shape;192;p21"/>
          <p:cNvSpPr/>
          <p:nvPr/>
        </p:nvSpPr>
        <p:spPr>
          <a:xfrm>
            <a:off x="5206500" y="184425"/>
            <a:ext cx="312600" cy="267900"/>
          </a:xfrm>
          <a:prstGeom prst="ellipse">
            <a:avLst/>
          </a:prstGeom>
          <a:solidFill>
            <a:schemeClr val="dk1"/>
          </a:solidFill>
          <a:ln cap="flat" cmpd="sng" w="38100">
            <a:solidFill>
              <a:srgbClr val="00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3" name="Google Shape;193;p21"/>
          <p:cNvCxnSpPr>
            <a:stCxn id="191" idx="6"/>
            <a:endCxn id="192" idx="2"/>
          </p:cNvCxnSpPr>
          <p:nvPr/>
        </p:nvCxnSpPr>
        <p:spPr>
          <a:xfrm>
            <a:off x="3752700" y="318375"/>
            <a:ext cx="1453800" cy="0"/>
          </a:xfrm>
          <a:prstGeom prst="straightConnector1">
            <a:avLst/>
          </a:prstGeom>
          <a:noFill/>
          <a:ln cap="flat" cmpd="sng" w="38100">
            <a:solidFill>
              <a:srgbClr val="00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4" name="Google Shape;194;p21"/>
          <p:cNvSpPr txBox="1"/>
          <p:nvPr/>
        </p:nvSpPr>
        <p:spPr>
          <a:xfrm>
            <a:off x="3008550" y="661275"/>
            <a:ext cx="1192500" cy="461700"/>
          </a:xfrm>
          <a:prstGeom prst="rect">
            <a:avLst/>
          </a:pr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rgbClr val="FFFF00"/>
                </a:solidFill>
              </a:rPr>
              <a:t>組合語言</a:t>
            </a:r>
            <a:endParaRPr sz="1800">
              <a:solidFill>
                <a:srgbClr val="FFFF00"/>
              </a:solidFill>
            </a:endParaRPr>
          </a:p>
        </p:txBody>
      </p:sp>
      <p:sp>
        <p:nvSpPr>
          <p:cNvPr id="195" name="Google Shape;195;p21"/>
          <p:cNvSpPr txBox="1"/>
          <p:nvPr/>
        </p:nvSpPr>
        <p:spPr>
          <a:xfrm>
            <a:off x="4801950" y="661275"/>
            <a:ext cx="1121700" cy="461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lt2"/>
                </a:solidFill>
              </a:rPr>
              <a:t>直譯語言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196" name="Google Shape;196;p21"/>
          <p:cNvSpPr txBox="1"/>
          <p:nvPr/>
        </p:nvSpPr>
        <p:spPr>
          <a:xfrm>
            <a:off x="6524550" y="661275"/>
            <a:ext cx="1121700" cy="461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lt2"/>
                </a:solidFill>
              </a:rPr>
              <a:t>編譯語言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197" name="Google Shape;197;p21"/>
          <p:cNvSpPr/>
          <p:nvPr/>
        </p:nvSpPr>
        <p:spPr>
          <a:xfrm>
            <a:off x="6929100" y="184425"/>
            <a:ext cx="312600" cy="267900"/>
          </a:xfrm>
          <a:prstGeom prst="ellipse">
            <a:avLst/>
          </a:prstGeom>
          <a:solidFill>
            <a:schemeClr val="dk1"/>
          </a:solidFill>
          <a:ln cap="flat" cmpd="sng" w="38100">
            <a:solidFill>
              <a:srgbClr val="00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8" name="Google Shape;198;p21"/>
          <p:cNvCxnSpPr>
            <a:stCxn id="197" idx="2"/>
            <a:endCxn id="192" idx="6"/>
          </p:cNvCxnSpPr>
          <p:nvPr/>
        </p:nvCxnSpPr>
        <p:spPr>
          <a:xfrm rot="10800000">
            <a:off x="5519100" y="318375"/>
            <a:ext cx="1410000" cy="0"/>
          </a:xfrm>
          <a:prstGeom prst="straightConnector1">
            <a:avLst/>
          </a:prstGeom>
          <a:noFill/>
          <a:ln cap="flat" cmpd="sng" w="38100">
            <a:solidFill>
              <a:srgbClr val="00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9" name="Google Shape;199;p21"/>
          <p:cNvSpPr/>
          <p:nvPr/>
        </p:nvSpPr>
        <p:spPr>
          <a:xfrm>
            <a:off x="1788000" y="184425"/>
            <a:ext cx="312600" cy="267900"/>
          </a:xfrm>
          <a:prstGeom prst="ellipse">
            <a:avLst/>
          </a:prstGeom>
          <a:solidFill>
            <a:schemeClr val="dk1"/>
          </a:solidFill>
          <a:ln cap="flat" cmpd="sng" w="38100">
            <a:solidFill>
              <a:srgbClr val="00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0" name="Google Shape;200;p21"/>
          <p:cNvCxnSpPr/>
          <p:nvPr/>
        </p:nvCxnSpPr>
        <p:spPr>
          <a:xfrm>
            <a:off x="2100600" y="318375"/>
            <a:ext cx="1339500" cy="0"/>
          </a:xfrm>
          <a:prstGeom prst="straightConnector1">
            <a:avLst/>
          </a:prstGeom>
          <a:noFill/>
          <a:ln cap="flat" cmpd="sng" w="38100">
            <a:solidFill>
              <a:srgbClr val="00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1" name="Google Shape;201;p21"/>
          <p:cNvSpPr txBox="1"/>
          <p:nvPr/>
        </p:nvSpPr>
        <p:spPr>
          <a:xfrm>
            <a:off x="1497750" y="661300"/>
            <a:ext cx="893100" cy="461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lt2"/>
                </a:solidFill>
              </a:rPr>
              <a:t>機械碼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202" name="Google Shape;202;p21"/>
          <p:cNvSpPr txBox="1"/>
          <p:nvPr/>
        </p:nvSpPr>
        <p:spPr>
          <a:xfrm>
            <a:off x="4904350" y="2061850"/>
            <a:ext cx="25065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lt2"/>
                </a:solidFill>
              </a:rPr>
              <a:t>main:</a:t>
            </a:r>
            <a:endParaRPr sz="1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lt2"/>
                </a:solidFill>
              </a:rPr>
              <a:t>	addi $t0, $zero, 2</a:t>
            </a:r>
            <a:endParaRPr sz="1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lt2"/>
                </a:solidFill>
              </a:rPr>
              <a:t>	addi $t1, $t0, 3</a:t>
            </a:r>
            <a:endParaRPr sz="1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lt2"/>
                </a:solidFill>
              </a:rPr>
              <a:t>	li $v0, 10</a:t>
            </a:r>
            <a:endParaRPr sz="1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lt2"/>
                </a:solidFill>
              </a:rPr>
              <a:t>	syscall</a:t>
            </a:r>
            <a:endParaRPr sz="1800">
              <a:solidFill>
                <a:schemeClr val="lt2"/>
              </a:solidFill>
            </a:endParaRPr>
          </a:p>
        </p:txBody>
      </p:sp>
      <p:cxnSp>
        <p:nvCxnSpPr>
          <p:cNvPr id="203" name="Google Shape;203;p21"/>
          <p:cNvCxnSpPr>
            <a:stCxn id="204" idx="3"/>
          </p:cNvCxnSpPr>
          <p:nvPr/>
        </p:nvCxnSpPr>
        <p:spPr>
          <a:xfrm>
            <a:off x="1558450" y="2803225"/>
            <a:ext cx="296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" name="Google Shape;205;p21"/>
          <p:cNvCxnSpPr/>
          <p:nvPr/>
        </p:nvCxnSpPr>
        <p:spPr>
          <a:xfrm>
            <a:off x="1654900" y="3205175"/>
            <a:ext cx="42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6" name="Google Shape;206;p21"/>
          <p:cNvSpPr/>
          <p:nvPr/>
        </p:nvSpPr>
        <p:spPr>
          <a:xfrm>
            <a:off x="4438125" y="3292600"/>
            <a:ext cx="446400" cy="216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1"/>
          <p:cNvSpPr/>
          <p:nvPr/>
        </p:nvSpPr>
        <p:spPr>
          <a:xfrm>
            <a:off x="1224250" y="2660425"/>
            <a:ext cx="334200" cy="285600"/>
          </a:xfrm>
          <a:prstGeom prst="rect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</a:t>
            </a:r>
            <a:endParaRPr/>
          </a:p>
        </p:txBody>
      </p:sp>
      <p:sp>
        <p:nvSpPr>
          <p:cNvPr id="207" name="Google Shape;207;p21"/>
          <p:cNvSpPr/>
          <p:nvPr/>
        </p:nvSpPr>
        <p:spPr>
          <a:xfrm>
            <a:off x="1339125" y="3034725"/>
            <a:ext cx="334200" cy="285600"/>
          </a:xfrm>
          <a:prstGeom prst="rect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B</a:t>
            </a:r>
            <a:endParaRPr/>
          </a:p>
        </p:txBody>
      </p:sp>
      <p:cxnSp>
        <p:nvCxnSpPr>
          <p:cNvPr id="208" name="Google Shape;208;p21"/>
          <p:cNvCxnSpPr>
            <a:stCxn id="207" idx="2"/>
          </p:cNvCxnSpPr>
          <p:nvPr/>
        </p:nvCxnSpPr>
        <p:spPr>
          <a:xfrm>
            <a:off x="1506225" y="3320325"/>
            <a:ext cx="0" cy="454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9" name="Google Shape;209;p21"/>
          <p:cNvCxnSpPr/>
          <p:nvPr/>
        </p:nvCxnSpPr>
        <p:spPr>
          <a:xfrm>
            <a:off x="1526800" y="3771850"/>
            <a:ext cx="359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0" name="Google Shape;210;p21"/>
          <p:cNvCxnSpPr/>
          <p:nvPr/>
        </p:nvCxnSpPr>
        <p:spPr>
          <a:xfrm>
            <a:off x="1281925" y="2936925"/>
            <a:ext cx="0" cy="977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" name="Google Shape;211;p21"/>
          <p:cNvCxnSpPr/>
          <p:nvPr/>
        </p:nvCxnSpPr>
        <p:spPr>
          <a:xfrm>
            <a:off x="1281925" y="3920325"/>
            <a:ext cx="599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" name="Google Shape;212;p21"/>
          <p:cNvCxnSpPr/>
          <p:nvPr/>
        </p:nvCxnSpPr>
        <p:spPr>
          <a:xfrm>
            <a:off x="2530988" y="3084075"/>
            <a:ext cx="53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3" name="Google Shape;213;p21"/>
          <p:cNvSpPr/>
          <p:nvPr/>
        </p:nvSpPr>
        <p:spPr>
          <a:xfrm>
            <a:off x="2605450" y="2281525"/>
            <a:ext cx="554400" cy="285600"/>
          </a:xfrm>
          <a:prstGeom prst="rect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進位</a:t>
            </a:r>
            <a:endParaRPr/>
          </a:p>
        </p:txBody>
      </p:sp>
      <p:cxnSp>
        <p:nvCxnSpPr>
          <p:cNvPr id="214" name="Google Shape;214;p21"/>
          <p:cNvCxnSpPr/>
          <p:nvPr/>
        </p:nvCxnSpPr>
        <p:spPr>
          <a:xfrm>
            <a:off x="2882650" y="2979000"/>
            <a:ext cx="186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5" name="Google Shape;215;p21"/>
          <p:cNvCxnSpPr>
            <a:stCxn id="213" idx="2"/>
          </p:cNvCxnSpPr>
          <p:nvPr/>
        </p:nvCxnSpPr>
        <p:spPr>
          <a:xfrm>
            <a:off x="2882650" y="2567125"/>
            <a:ext cx="0" cy="409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6" name="Google Shape;216;p21"/>
          <p:cNvCxnSpPr/>
          <p:nvPr/>
        </p:nvCxnSpPr>
        <p:spPr>
          <a:xfrm>
            <a:off x="3542050" y="3030925"/>
            <a:ext cx="198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7" name="Google Shape;217;p21"/>
          <p:cNvSpPr/>
          <p:nvPr/>
        </p:nvSpPr>
        <p:spPr>
          <a:xfrm>
            <a:off x="3740050" y="2922625"/>
            <a:ext cx="493800" cy="216600"/>
          </a:xfrm>
          <a:prstGeom prst="rect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800"/>
              <a:t>Result</a:t>
            </a:r>
            <a:endParaRPr sz="800"/>
          </a:p>
        </p:txBody>
      </p:sp>
      <p:cxnSp>
        <p:nvCxnSpPr>
          <p:cNvPr id="218" name="Google Shape;218;p21"/>
          <p:cNvCxnSpPr/>
          <p:nvPr/>
        </p:nvCxnSpPr>
        <p:spPr>
          <a:xfrm>
            <a:off x="2720400" y="2567125"/>
            <a:ext cx="0" cy="1190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" name="Google Shape;219;p21"/>
          <p:cNvCxnSpPr/>
          <p:nvPr/>
        </p:nvCxnSpPr>
        <p:spPr>
          <a:xfrm>
            <a:off x="2237050" y="3255725"/>
            <a:ext cx="0" cy="145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0" name="Google Shape;220;p21"/>
          <p:cNvCxnSpPr/>
          <p:nvPr/>
        </p:nvCxnSpPr>
        <p:spPr>
          <a:xfrm>
            <a:off x="2231450" y="3400900"/>
            <a:ext cx="773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1" name="Google Shape;221;p21"/>
          <p:cNvSpPr/>
          <p:nvPr/>
        </p:nvSpPr>
        <p:spPr>
          <a:xfrm>
            <a:off x="2648500" y="3732725"/>
            <a:ext cx="468300" cy="255600"/>
          </a:xfrm>
          <a:prstGeom prst="rect">
            <a:avLst/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/>
              <a:t>AND</a:t>
            </a:r>
            <a:endParaRPr sz="1000"/>
          </a:p>
        </p:txBody>
      </p:sp>
      <p:sp>
        <p:nvSpPr>
          <p:cNvPr id="222" name="Google Shape;222;p21"/>
          <p:cNvSpPr/>
          <p:nvPr/>
        </p:nvSpPr>
        <p:spPr>
          <a:xfrm>
            <a:off x="2053325" y="3004900"/>
            <a:ext cx="468300" cy="255600"/>
          </a:xfrm>
          <a:prstGeom prst="rect">
            <a:avLst/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/>
              <a:t>XOR</a:t>
            </a:r>
            <a:endParaRPr sz="1000"/>
          </a:p>
        </p:txBody>
      </p:sp>
      <p:sp>
        <p:nvSpPr>
          <p:cNvPr id="223" name="Google Shape;223;p21"/>
          <p:cNvSpPr/>
          <p:nvPr/>
        </p:nvSpPr>
        <p:spPr>
          <a:xfrm>
            <a:off x="3073750" y="2903125"/>
            <a:ext cx="468300" cy="255600"/>
          </a:xfrm>
          <a:prstGeom prst="rect">
            <a:avLst/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/>
              <a:t>XOR</a:t>
            </a:r>
            <a:endParaRPr sz="1000"/>
          </a:p>
        </p:txBody>
      </p:sp>
      <p:cxnSp>
        <p:nvCxnSpPr>
          <p:cNvPr id="224" name="Google Shape;224;p21"/>
          <p:cNvCxnSpPr/>
          <p:nvPr/>
        </p:nvCxnSpPr>
        <p:spPr>
          <a:xfrm>
            <a:off x="1856600" y="2804825"/>
            <a:ext cx="0" cy="304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" name="Google Shape;225;p21"/>
          <p:cNvCxnSpPr/>
          <p:nvPr/>
        </p:nvCxnSpPr>
        <p:spPr>
          <a:xfrm>
            <a:off x="1856600" y="3109000"/>
            <a:ext cx="19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6" name="Google Shape;226;p21"/>
          <p:cNvSpPr/>
          <p:nvPr/>
        </p:nvSpPr>
        <p:spPr>
          <a:xfrm>
            <a:off x="1881025" y="3732725"/>
            <a:ext cx="468300" cy="255600"/>
          </a:xfrm>
          <a:prstGeom prst="rect">
            <a:avLst/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/>
              <a:t>AND</a:t>
            </a:r>
            <a:endParaRPr sz="1000"/>
          </a:p>
        </p:txBody>
      </p:sp>
      <p:cxnSp>
        <p:nvCxnSpPr>
          <p:cNvPr id="227" name="Google Shape;227;p21"/>
          <p:cNvCxnSpPr/>
          <p:nvPr/>
        </p:nvCxnSpPr>
        <p:spPr>
          <a:xfrm>
            <a:off x="3005150" y="34009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8" name="Google Shape;228;p21"/>
          <p:cNvSpPr/>
          <p:nvPr/>
        </p:nvSpPr>
        <p:spPr>
          <a:xfrm>
            <a:off x="2605450" y="4538125"/>
            <a:ext cx="554400" cy="285600"/>
          </a:xfrm>
          <a:prstGeom prst="rect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進位</a:t>
            </a:r>
            <a:endParaRPr/>
          </a:p>
        </p:txBody>
      </p:sp>
      <p:sp>
        <p:nvSpPr>
          <p:cNvPr id="229" name="Google Shape;229;p21"/>
          <p:cNvSpPr/>
          <p:nvPr/>
        </p:nvSpPr>
        <p:spPr>
          <a:xfrm>
            <a:off x="2648500" y="4135425"/>
            <a:ext cx="468300" cy="255600"/>
          </a:xfrm>
          <a:prstGeom prst="rect">
            <a:avLst/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/>
              <a:t>OR</a:t>
            </a:r>
            <a:endParaRPr sz="1000"/>
          </a:p>
        </p:txBody>
      </p:sp>
      <p:cxnSp>
        <p:nvCxnSpPr>
          <p:cNvPr id="230" name="Google Shape;230;p21"/>
          <p:cNvCxnSpPr>
            <a:stCxn id="221" idx="2"/>
          </p:cNvCxnSpPr>
          <p:nvPr/>
        </p:nvCxnSpPr>
        <p:spPr>
          <a:xfrm>
            <a:off x="2882650" y="3988325"/>
            <a:ext cx="0" cy="148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1" name="Google Shape;231;p21"/>
          <p:cNvCxnSpPr>
            <a:stCxn id="226" idx="2"/>
          </p:cNvCxnSpPr>
          <p:nvPr/>
        </p:nvCxnSpPr>
        <p:spPr>
          <a:xfrm>
            <a:off x="2115175" y="3988325"/>
            <a:ext cx="0" cy="276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2" name="Google Shape;232;p21"/>
          <p:cNvCxnSpPr>
            <a:endCxn id="229" idx="1"/>
          </p:cNvCxnSpPr>
          <p:nvPr/>
        </p:nvCxnSpPr>
        <p:spPr>
          <a:xfrm>
            <a:off x="2114800" y="4263225"/>
            <a:ext cx="533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3" name="Google Shape;233;p21"/>
          <p:cNvCxnSpPr>
            <a:stCxn id="228" idx="0"/>
            <a:endCxn id="229" idx="2"/>
          </p:cNvCxnSpPr>
          <p:nvPr/>
        </p:nvCxnSpPr>
        <p:spPr>
          <a:xfrm rot="10800000">
            <a:off x="2882650" y="4391125"/>
            <a:ext cx="0" cy="147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4" name="Google Shape;234;p21"/>
          <p:cNvSpPr txBox="1"/>
          <p:nvPr/>
        </p:nvSpPr>
        <p:spPr>
          <a:xfrm>
            <a:off x="2177650" y="1516063"/>
            <a:ext cx="1410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300">
                <a:solidFill>
                  <a:schemeClr val="lt2"/>
                </a:solidFill>
              </a:rPr>
              <a:t>邏輯實現</a:t>
            </a:r>
            <a:endParaRPr sz="2300">
              <a:solidFill>
                <a:schemeClr val="lt2"/>
              </a:solidFill>
            </a:endParaRPr>
          </a:p>
        </p:txBody>
      </p:sp>
      <p:sp>
        <p:nvSpPr>
          <p:cNvPr id="235" name="Google Shape;235;p21"/>
          <p:cNvSpPr txBox="1"/>
          <p:nvPr/>
        </p:nvSpPr>
        <p:spPr>
          <a:xfrm>
            <a:off x="5463650" y="1516025"/>
            <a:ext cx="22713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300">
                <a:solidFill>
                  <a:schemeClr val="lt2"/>
                </a:solidFill>
              </a:rPr>
              <a:t>Operation SOP</a:t>
            </a:r>
            <a:endParaRPr sz="2300">
              <a:solidFill>
                <a:schemeClr val="lt2"/>
              </a:solidFill>
            </a:endParaRPr>
          </a:p>
        </p:txBody>
      </p:sp>
      <p:sp>
        <p:nvSpPr>
          <p:cNvPr id="236" name="Google Shape;236;p21"/>
          <p:cNvSpPr txBox="1"/>
          <p:nvPr/>
        </p:nvSpPr>
        <p:spPr>
          <a:xfrm>
            <a:off x="7541700" y="2572375"/>
            <a:ext cx="123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rgbClr val="00FFFF"/>
                </a:solidFill>
              </a:rPr>
              <a:t>把2記起來</a:t>
            </a:r>
            <a:endParaRPr sz="1800">
              <a:solidFill>
                <a:srgbClr val="00FFFF"/>
              </a:solidFill>
            </a:endParaRPr>
          </a:p>
        </p:txBody>
      </p:sp>
      <p:sp>
        <p:nvSpPr>
          <p:cNvPr id="237" name="Google Shape;237;p21"/>
          <p:cNvSpPr txBox="1"/>
          <p:nvPr/>
        </p:nvSpPr>
        <p:spPr>
          <a:xfrm>
            <a:off x="7435125" y="3170050"/>
            <a:ext cx="157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rgbClr val="00FFFF"/>
                </a:solidFill>
              </a:rPr>
              <a:t>把2</a:t>
            </a:r>
            <a:r>
              <a:rPr lang="zh-TW" sz="1800">
                <a:solidFill>
                  <a:srgbClr val="00FFFF"/>
                </a:solidFill>
              </a:rPr>
              <a:t>+3</a:t>
            </a:r>
            <a:r>
              <a:rPr lang="zh-TW" sz="1800">
                <a:solidFill>
                  <a:srgbClr val="00FFFF"/>
                </a:solidFill>
              </a:rPr>
              <a:t>記起來</a:t>
            </a:r>
            <a:endParaRPr sz="1800">
              <a:solidFill>
                <a:srgbClr val="00FFFF"/>
              </a:solidFill>
            </a:endParaRPr>
          </a:p>
        </p:txBody>
      </p:sp>
      <p:sp>
        <p:nvSpPr>
          <p:cNvPr id="238" name="Google Shape;238;p21"/>
          <p:cNvSpPr txBox="1"/>
          <p:nvPr/>
        </p:nvSpPr>
        <p:spPr>
          <a:xfrm>
            <a:off x="7026775" y="3895625"/>
            <a:ext cx="203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rgbClr val="00FFFF"/>
                </a:solidFill>
              </a:rPr>
              <a:t>回報說：我做好了</a:t>
            </a:r>
            <a:endParaRPr sz="1800">
              <a:solidFill>
                <a:srgbClr val="00FFF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2"/>
          <p:cNvSpPr txBox="1"/>
          <p:nvPr/>
        </p:nvSpPr>
        <p:spPr>
          <a:xfrm>
            <a:off x="3508000" y="2369625"/>
            <a:ext cx="430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244" name="Google Shape;244;p22"/>
          <p:cNvSpPr/>
          <p:nvPr/>
        </p:nvSpPr>
        <p:spPr>
          <a:xfrm>
            <a:off x="3528600" y="1495125"/>
            <a:ext cx="2086803" cy="530424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lt2"/>
                </a:solidFill>
                <a:latin typeface="Arial"/>
              </a:rPr>
              <a:t>恭喜你</a:t>
            </a:r>
          </a:p>
        </p:txBody>
      </p:sp>
      <p:sp>
        <p:nvSpPr>
          <p:cNvPr id="245" name="Google Shape;245;p22"/>
          <p:cNvSpPr/>
          <p:nvPr/>
        </p:nvSpPr>
        <p:spPr>
          <a:xfrm>
            <a:off x="0" y="2693650"/>
            <a:ext cx="9143993" cy="49590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lt2"/>
                </a:solidFill>
                <a:latin typeface="Arial"/>
              </a:rPr>
              <a:t>你已經理解電腦運作的基本原理了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3"/>
          <p:cNvSpPr/>
          <p:nvPr/>
        </p:nvSpPr>
        <p:spPr>
          <a:xfrm>
            <a:off x="3106587" y="323900"/>
            <a:ext cx="2930843" cy="36962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lt2"/>
                </a:solidFill>
                <a:latin typeface="Arial"/>
              </a:rPr>
              <a:t>更底層的原理</a:t>
            </a:r>
          </a:p>
        </p:txBody>
      </p:sp>
      <p:sp>
        <p:nvSpPr>
          <p:cNvPr id="251" name="Google Shape;251;p23"/>
          <p:cNvSpPr/>
          <p:nvPr/>
        </p:nvSpPr>
        <p:spPr>
          <a:xfrm>
            <a:off x="667850" y="2862350"/>
            <a:ext cx="3256500" cy="13719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N</a:t>
            </a:r>
            <a:endParaRPr/>
          </a:p>
        </p:txBody>
      </p:sp>
      <p:sp>
        <p:nvSpPr>
          <p:cNvPr id="252" name="Google Shape;252;p23"/>
          <p:cNvSpPr/>
          <p:nvPr/>
        </p:nvSpPr>
        <p:spPr>
          <a:xfrm>
            <a:off x="1029500" y="2534650"/>
            <a:ext cx="977700" cy="7020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</a:t>
            </a:r>
            <a:endParaRPr/>
          </a:p>
        </p:txBody>
      </p:sp>
      <p:sp>
        <p:nvSpPr>
          <p:cNvPr id="253" name="Google Shape;253;p23"/>
          <p:cNvSpPr/>
          <p:nvPr/>
        </p:nvSpPr>
        <p:spPr>
          <a:xfrm>
            <a:off x="2635700" y="2534650"/>
            <a:ext cx="977700" cy="7020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</a:t>
            </a:r>
            <a:endParaRPr/>
          </a:p>
        </p:txBody>
      </p:sp>
      <p:sp>
        <p:nvSpPr>
          <p:cNvPr id="254" name="Google Shape;254;p23"/>
          <p:cNvSpPr/>
          <p:nvPr/>
        </p:nvSpPr>
        <p:spPr>
          <a:xfrm>
            <a:off x="967050" y="2862350"/>
            <a:ext cx="62400" cy="436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F1F1F"/>
              </a:solidFill>
            </a:endParaRPr>
          </a:p>
        </p:txBody>
      </p:sp>
      <p:sp>
        <p:nvSpPr>
          <p:cNvPr id="255" name="Google Shape;255;p23"/>
          <p:cNvSpPr/>
          <p:nvPr/>
        </p:nvSpPr>
        <p:spPr>
          <a:xfrm rot="-5383472">
            <a:off x="1479446" y="2724400"/>
            <a:ext cx="62401" cy="1086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F1F1F"/>
              </a:solidFill>
            </a:endParaRPr>
          </a:p>
        </p:txBody>
      </p:sp>
      <p:sp>
        <p:nvSpPr>
          <p:cNvPr id="256" name="Google Shape;256;p23"/>
          <p:cNvSpPr/>
          <p:nvPr/>
        </p:nvSpPr>
        <p:spPr>
          <a:xfrm>
            <a:off x="2007200" y="2862350"/>
            <a:ext cx="62400" cy="436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F1F1F"/>
              </a:solidFill>
            </a:endParaRPr>
          </a:p>
        </p:txBody>
      </p:sp>
      <p:sp>
        <p:nvSpPr>
          <p:cNvPr id="257" name="Google Shape;257;p23"/>
          <p:cNvSpPr/>
          <p:nvPr/>
        </p:nvSpPr>
        <p:spPr>
          <a:xfrm>
            <a:off x="2573275" y="2862350"/>
            <a:ext cx="62400" cy="436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F1F1F"/>
              </a:solidFill>
            </a:endParaRPr>
          </a:p>
        </p:txBody>
      </p:sp>
      <p:sp>
        <p:nvSpPr>
          <p:cNvPr id="258" name="Google Shape;258;p23"/>
          <p:cNvSpPr/>
          <p:nvPr/>
        </p:nvSpPr>
        <p:spPr>
          <a:xfrm rot="-5383472">
            <a:off x="3085671" y="2724400"/>
            <a:ext cx="62401" cy="1086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F1F1F"/>
              </a:solidFill>
            </a:endParaRPr>
          </a:p>
        </p:txBody>
      </p:sp>
      <p:sp>
        <p:nvSpPr>
          <p:cNvPr id="259" name="Google Shape;259;p23"/>
          <p:cNvSpPr/>
          <p:nvPr/>
        </p:nvSpPr>
        <p:spPr>
          <a:xfrm>
            <a:off x="3613425" y="2862350"/>
            <a:ext cx="62400" cy="436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F1F1F"/>
              </a:solidFill>
            </a:endParaRPr>
          </a:p>
        </p:txBody>
      </p:sp>
      <p:cxnSp>
        <p:nvCxnSpPr>
          <p:cNvPr id="260" name="Google Shape;260;p23"/>
          <p:cNvCxnSpPr>
            <a:endCxn id="251" idx="0"/>
          </p:cNvCxnSpPr>
          <p:nvPr/>
        </p:nvCxnSpPr>
        <p:spPr>
          <a:xfrm>
            <a:off x="2296100" y="2345450"/>
            <a:ext cx="0" cy="516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1" name="Google Shape;261;p23"/>
          <p:cNvSpPr txBox="1"/>
          <p:nvPr/>
        </p:nvSpPr>
        <p:spPr>
          <a:xfrm>
            <a:off x="968300" y="1882300"/>
            <a:ext cx="265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rgbClr val="00FFFF"/>
                </a:solidFill>
              </a:rPr>
              <a:t>低電壓</a:t>
            </a:r>
            <a:endParaRPr sz="1600">
              <a:solidFill>
                <a:srgbClr val="00FFFF"/>
              </a:solidFill>
            </a:endParaRPr>
          </a:p>
        </p:txBody>
      </p:sp>
      <p:sp>
        <p:nvSpPr>
          <p:cNvPr id="262" name="Google Shape;262;p23"/>
          <p:cNvSpPr/>
          <p:nvPr/>
        </p:nvSpPr>
        <p:spPr>
          <a:xfrm>
            <a:off x="2007200" y="2860600"/>
            <a:ext cx="628500" cy="1563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/>
              <a:t>正電</a:t>
            </a:r>
            <a:endParaRPr sz="900"/>
          </a:p>
        </p:txBody>
      </p:sp>
      <p:cxnSp>
        <p:nvCxnSpPr>
          <p:cNvPr id="263" name="Google Shape;263;p23"/>
          <p:cNvCxnSpPr/>
          <p:nvPr/>
        </p:nvCxnSpPr>
        <p:spPr>
          <a:xfrm>
            <a:off x="1510650" y="1755550"/>
            <a:ext cx="0" cy="779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4" name="Google Shape;264;p23"/>
          <p:cNvCxnSpPr/>
          <p:nvPr/>
        </p:nvCxnSpPr>
        <p:spPr>
          <a:xfrm>
            <a:off x="3124550" y="1755550"/>
            <a:ext cx="0" cy="779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5" name="Google Shape;265;p23"/>
          <p:cNvSpPr/>
          <p:nvPr/>
        </p:nvSpPr>
        <p:spPr>
          <a:xfrm>
            <a:off x="5219650" y="2806200"/>
            <a:ext cx="3256500" cy="13719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</a:t>
            </a:r>
            <a:endParaRPr/>
          </a:p>
        </p:txBody>
      </p:sp>
      <p:sp>
        <p:nvSpPr>
          <p:cNvPr id="266" name="Google Shape;266;p23"/>
          <p:cNvSpPr/>
          <p:nvPr/>
        </p:nvSpPr>
        <p:spPr>
          <a:xfrm>
            <a:off x="5581300" y="2478500"/>
            <a:ext cx="977700" cy="7020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N</a:t>
            </a:r>
            <a:endParaRPr/>
          </a:p>
        </p:txBody>
      </p:sp>
      <p:sp>
        <p:nvSpPr>
          <p:cNvPr id="267" name="Google Shape;267;p23"/>
          <p:cNvSpPr/>
          <p:nvPr/>
        </p:nvSpPr>
        <p:spPr>
          <a:xfrm>
            <a:off x="7187500" y="2478500"/>
            <a:ext cx="977700" cy="7020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N</a:t>
            </a:r>
            <a:endParaRPr/>
          </a:p>
        </p:txBody>
      </p:sp>
      <p:sp>
        <p:nvSpPr>
          <p:cNvPr id="268" name="Google Shape;268;p23"/>
          <p:cNvSpPr/>
          <p:nvPr/>
        </p:nvSpPr>
        <p:spPr>
          <a:xfrm>
            <a:off x="5518850" y="2806200"/>
            <a:ext cx="62400" cy="436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F1F1F"/>
              </a:solidFill>
            </a:endParaRPr>
          </a:p>
        </p:txBody>
      </p:sp>
      <p:sp>
        <p:nvSpPr>
          <p:cNvPr id="269" name="Google Shape;269;p23"/>
          <p:cNvSpPr/>
          <p:nvPr/>
        </p:nvSpPr>
        <p:spPr>
          <a:xfrm rot="-5383472">
            <a:off x="6031246" y="2668250"/>
            <a:ext cx="62401" cy="1086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F1F1F"/>
              </a:solidFill>
            </a:endParaRPr>
          </a:p>
        </p:txBody>
      </p:sp>
      <p:sp>
        <p:nvSpPr>
          <p:cNvPr id="270" name="Google Shape;270;p23"/>
          <p:cNvSpPr/>
          <p:nvPr/>
        </p:nvSpPr>
        <p:spPr>
          <a:xfrm>
            <a:off x="6559000" y="2806200"/>
            <a:ext cx="62400" cy="436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F1F1F"/>
              </a:solidFill>
            </a:endParaRPr>
          </a:p>
        </p:txBody>
      </p:sp>
      <p:sp>
        <p:nvSpPr>
          <p:cNvPr id="271" name="Google Shape;271;p23"/>
          <p:cNvSpPr/>
          <p:nvPr/>
        </p:nvSpPr>
        <p:spPr>
          <a:xfrm>
            <a:off x="7125075" y="2806200"/>
            <a:ext cx="62400" cy="436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F1F1F"/>
              </a:solidFill>
            </a:endParaRPr>
          </a:p>
        </p:txBody>
      </p:sp>
      <p:sp>
        <p:nvSpPr>
          <p:cNvPr id="272" name="Google Shape;272;p23"/>
          <p:cNvSpPr/>
          <p:nvPr/>
        </p:nvSpPr>
        <p:spPr>
          <a:xfrm rot="-5383472">
            <a:off x="7637471" y="2668250"/>
            <a:ext cx="62401" cy="1086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F1F1F"/>
              </a:solidFill>
            </a:endParaRPr>
          </a:p>
        </p:txBody>
      </p:sp>
      <p:sp>
        <p:nvSpPr>
          <p:cNvPr id="273" name="Google Shape;273;p23"/>
          <p:cNvSpPr/>
          <p:nvPr/>
        </p:nvSpPr>
        <p:spPr>
          <a:xfrm>
            <a:off x="8165225" y="2806200"/>
            <a:ext cx="62400" cy="436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F1F1F"/>
              </a:solidFill>
            </a:endParaRPr>
          </a:p>
        </p:txBody>
      </p:sp>
      <p:cxnSp>
        <p:nvCxnSpPr>
          <p:cNvPr id="274" name="Google Shape;274;p23"/>
          <p:cNvCxnSpPr>
            <a:endCxn id="265" idx="0"/>
          </p:cNvCxnSpPr>
          <p:nvPr/>
        </p:nvCxnSpPr>
        <p:spPr>
          <a:xfrm>
            <a:off x="6847900" y="2289300"/>
            <a:ext cx="0" cy="516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5" name="Google Shape;275;p23"/>
          <p:cNvSpPr txBox="1"/>
          <p:nvPr/>
        </p:nvSpPr>
        <p:spPr>
          <a:xfrm>
            <a:off x="5520100" y="1826150"/>
            <a:ext cx="265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rgbClr val="00FFFF"/>
                </a:solidFill>
              </a:rPr>
              <a:t>高</a:t>
            </a:r>
            <a:r>
              <a:rPr lang="zh-TW" sz="1600">
                <a:solidFill>
                  <a:srgbClr val="00FFFF"/>
                </a:solidFill>
              </a:rPr>
              <a:t>電壓</a:t>
            </a:r>
            <a:endParaRPr sz="1600">
              <a:solidFill>
                <a:srgbClr val="00FFFF"/>
              </a:solidFill>
            </a:endParaRPr>
          </a:p>
        </p:txBody>
      </p:sp>
      <p:sp>
        <p:nvSpPr>
          <p:cNvPr id="276" name="Google Shape;276;p23"/>
          <p:cNvSpPr/>
          <p:nvPr/>
        </p:nvSpPr>
        <p:spPr>
          <a:xfrm>
            <a:off x="6559000" y="2804450"/>
            <a:ext cx="628500" cy="156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/>
              <a:t>負</a:t>
            </a:r>
            <a:r>
              <a:rPr lang="zh-TW" sz="900"/>
              <a:t>電</a:t>
            </a:r>
            <a:endParaRPr sz="900"/>
          </a:p>
        </p:txBody>
      </p:sp>
      <p:cxnSp>
        <p:nvCxnSpPr>
          <p:cNvPr id="277" name="Google Shape;277;p23"/>
          <p:cNvCxnSpPr/>
          <p:nvPr/>
        </p:nvCxnSpPr>
        <p:spPr>
          <a:xfrm>
            <a:off x="6062450" y="1699400"/>
            <a:ext cx="0" cy="779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8" name="Google Shape;278;p23"/>
          <p:cNvCxnSpPr/>
          <p:nvPr/>
        </p:nvCxnSpPr>
        <p:spPr>
          <a:xfrm>
            <a:off x="7676350" y="1699400"/>
            <a:ext cx="0" cy="779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9" name="Google Shape;279;p23"/>
          <p:cNvSpPr txBox="1"/>
          <p:nvPr/>
        </p:nvSpPr>
        <p:spPr>
          <a:xfrm>
            <a:off x="3244200" y="833625"/>
            <a:ext cx="2655600" cy="431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參考MOSFET運作原理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4"/>
          <p:cNvSpPr/>
          <p:nvPr/>
        </p:nvSpPr>
        <p:spPr>
          <a:xfrm>
            <a:off x="1873662" y="284750"/>
            <a:ext cx="5396694" cy="371253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lt2"/>
                </a:solidFill>
                <a:latin typeface="Arial"/>
              </a:rPr>
              <a:t>電腦原理的設計還有更多</a:t>
            </a:r>
          </a:p>
        </p:txBody>
      </p:sp>
      <p:pic>
        <p:nvPicPr>
          <p:cNvPr id="285" name="Google Shape;28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25" y="2057800"/>
            <a:ext cx="2778451" cy="160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39750" y="1763512"/>
            <a:ext cx="1929500" cy="192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4"/>
          <p:cNvSpPr txBox="1"/>
          <p:nvPr/>
        </p:nvSpPr>
        <p:spPr>
          <a:xfrm>
            <a:off x="122850" y="4200450"/>
            <a:ext cx="265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rgbClr val="00FFFF"/>
                </a:solidFill>
              </a:rPr>
              <a:t>減法：2’s Complement</a:t>
            </a:r>
            <a:endParaRPr sz="1600">
              <a:solidFill>
                <a:srgbClr val="00FFFF"/>
              </a:solidFill>
            </a:endParaRPr>
          </a:p>
        </p:txBody>
      </p:sp>
      <p:sp>
        <p:nvSpPr>
          <p:cNvPr id="288" name="Google Shape;288;p24"/>
          <p:cNvSpPr txBox="1"/>
          <p:nvPr/>
        </p:nvSpPr>
        <p:spPr>
          <a:xfrm>
            <a:off x="2839875" y="1186388"/>
            <a:ext cx="3333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rgbClr val="00FFFF"/>
                </a:solidFill>
              </a:rPr>
              <a:t>Register: DType FlipFLop</a:t>
            </a:r>
            <a:endParaRPr sz="1600">
              <a:solidFill>
                <a:srgbClr val="00FFFF"/>
              </a:solidFill>
            </a:endParaRPr>
          </a:p>
        </p:txBody>
      </p:sp>
      <p:pic>
        <p:nvPicPr>
          <p:cNvPr id="289" name="Google Shape;289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93725" y="1752026"/>
            <a:ext cx="2655601" cy="200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4"/>
          <p:cNvSpPr txBox="1"/>
          <p:nvPr/>
        </p:nvSpPr>
        <p:spPr>
          <a:xfrm>
            <a:off x="7128175" y="1186400"/>
            <a:ext cx="986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rgbClr val="00FFFF"/>
                </a:solidFill>
              </a:rPr>
              <a:t>乘法器</a:t>
            </a:r>
            <a:endParaRPr sz="1600">
              <a:solidFill>
                <a:srgbClr val="00FFFF"/>
              </a:solidFill>
            </a:endParaRPr>
          </a:p>
        </p:txBody>
      </p:sp>
      <p:sp>
        <p:nvSpPr>
          <p:cNvPr id="291" name="Google Shape;291;p24"/>
          <p:cNvSpPr txBox="1"/>
          <p:nvPr/>
        </p:nvSpPr>
        <p:spPr>
          <a:xfrm>
            <a:off x="61425" y="1134400"/>
            <a:ext cx="2655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rgbClr val="00FFFF"/>
                </a:solidFill>
              </a:rPr>
              <a:t>Ripple Full Adder</a:t>
            </a:r>
            <a:endParaRPr sz="1600">
              <a:solidFill>
                <a:srgbClr val="00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rgbClr val="00FFFF"/>
                </a:solidFill>
              </a:rPr>
              <a:t>改良成</a:t>
            </a:r>
            <a:endParaRPr sz="1600">
              <a:solidFill>
                <a:srgbClr val="00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rgbClr val="00FFFF"/>
                </a:solidFill>
              </a:rPr>
              <a:t>Look ahead Carry Adder</a:t>
            </a:r>
            <a:endParaRPr sz="1600">
              <a:solidFill>
                <a:srgbClr val="00FFFF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5"/>
          <p:cNvSpPr/>
          <p:nvPr/>
        </p:nvSpPr>
        <p:spPr>
          <a:xfrm>
            <a:off x="6277475" y="260900"/>
            <a:ext cx="1351556" cy="523927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lt2"/>
                </a:solidFill>
                <a:latin typeface="Arial"/>
              </a:rPr>
              <a:t>元件</a:t>
            </a:r>
          </a:p>
        </p:txBody>
      </p:sp>
      <p:sp>
        <p:nvSpPr>
          <p:cNvPr id="297" name="Google Shape;297;p25"/>
          <p:cNvSpPr/>
          <p:nvPr/>
        </p:nvSpPr>
        <p:spPr>
          <a:xfrm>
            <a:off x="6273150" y="1387550"/>
            <a:ext cx="1360206" cy="532787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lt2"/>
                </a:solidFill>
                <a:latin typeface="Arial"/>
              </a:rPr>
              <a:t>指令</a:t>
            </a:r>
          </a:p>
        </p:txBody>
      </p:sp>
      <p:sp>
        <p:nvSpPr>
          <p:cNvPr id="298" name="Google Shape;298;p25"/>
          <p:cNvSpPr/>
          <p:nvPr/>
        </p:nvSpPr>
        <p:spPr>
          <a:xfrm rot="5400000">
            <a:off x="6730050" y="977875"/>
            <a:ext cx="446400" cy="216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5"/>
          <p:cNvSpPr/>
          <p:nvPr/>
        </p:nvSpPr>
        <p:spPr>
          <a:xfrm rot="5400000">
            <a:off x="6730050" y="2113400"/>
            <a:ext cx="446400" cy="216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5"/>
          <p:cNvSpPr/>
          <p:nvPr/>
        </p:nvSpPr>
        <p:spPr>
          <a:xfrm>
            <a:off x="5544025" y="2582600"/>
            <a:ext cx="2818445" cy="1191977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lt2"/>
                </a:solidFill>
                <a:latin typeface="Arial"/>
              </a:rPr>
              <a:t>作業系統</a:t>
            </a:r>
            <a:br>
              <a:rPr b="0" i="0"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lt2"/>
                </a:solidFill>
                <a:latin typeface="Arial"/>
              </a:rPr>
            </a:br>
            <a:r>
              <a:rPr b="0" i="0"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lt2"/>
                </a:solidFill>
                <a:latin typeface="Arial"/>
              </a:rPr>
              <a:t>Kernel</a:t>
            </a:r>
          </a:p>
        </p:txBody>
      </p:sp>
      <p:sp>
        <p:nvSpPr>
          <p:cNvPr id="301" name="Google Shape;301;p25"/>
          <p:cNvSpPr/>
          <p:nvPr/>
        </p:nvSpPr>
        <p:spPr>
          <a:xfrm rot="5400000">
            <a:off x="6730050" y="4027175"/>
            <a:ext cx="446400" cy="216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5"/>
          <p:cNvSpPr/>
          <p:nvPr/>
        </p:nvSpPr>
        <p:spPr>
          <a:xfrm>
            <a:off x="5544025" y="4358675"/>
            <a:ext cx="2801866" cy="523927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rgbClr val="FFFF00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FFFF00"/>
                </a:solidFill>
                <a:latin typeface="Arial"/>
              </a:rPr>
              <a:t>你的程式</a:t>
            </a:r>
          </a:p>
        </p:txBody>
      </p:sp>
      <p:pic>
        <p:nvPicPr>
          <p:cNvPr id="303" name="Google Shape;30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925" y="741663"/>
            <a:ext cx="4103150" cy="3660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4" name="Google Shape;304;p25"/>
          <p:cNvCxnSpPr/>
          <p:nvPr/>
        </p:nvCxnSpPr>
        <p:spPr>
          <a:xfrm>
            <a:off x="4355700" y="3611575"/>
            <a:ext cx="1041900" cy="7740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6"/>
          <p:cNvSpPr/>
          <p:nvPr/>
        </p:nvSpPr>
        <p:spPr>
          <a:xfrm>
            <a:off x="1788000" y="341000"/>
            <a:ext cx="312600" cy="267900"/>
          </a:xfrm>
          <a:prstGeom prst="ellipse">
            <a:avLst/>
          </a:prstGeom>
          <a:solidFill>
            <a:schemeClr val="dk1"/>
          </a:solidFill>
          <a:ln cap="flat" cmpd="sng" w="38100">
            <a:solidFill>
              <a:srgbClr val="00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0" name="Google Shape;310;p26"/>
          <p:cNvCxnSpPr/>
          <p:nvPr/>
        </p:nvCxnSpPr>
        <p:spPr>
          <a:xfrm>
            <a:off x="2100600" y="474950"/>
            <a:ext cx="1339500" cy="0"/>
          </a:xfrm>
          <a:prstGeom prst="straightConnector1">
            <a:avLst/>
          </a:prstGeom>
          <a:noFill/>
          <a:ln cap="flat" cmpd="sng" w="38100">
            <a:solidFill>
              <a:srgbClr val="00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1" name="Google Shape;311;p26"/>
          <p:cNvSpPr/>
          <p:nvPr/>
        </p:nvSpPr>
        <p:spPr>
          <a:xfrm>
            <a:off x="3440100" y="341000"/>
            <a:ext cx="312600" cy="267900"/>
          </a:xfrm>
          <a:prstGeom prst="ellipse">
            <a:avLst/>
          </a:prstGeom>
          <a:solidFill>
            <a:schemeClr val="dk1"/>
          </a:solidFill>
          <a:ln cap="flat" cmpd="sng" w="38100">
            <a:solidFill>
              <a:srgbClr val="00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6"/>
          <p:cNvSpPr/>
          <p:nvPr/>
        </p:nvSpPr>
        <p:spPr>
          <a:xfrm>
            <a:off x="5206500" y="341000"/>
            <a:ext cx="312600" cy="267900"/>
          </a:xfrm>
          <a:prstGeom prst="ellipse">
            <a:avLst/>
          </a:prstGeom>
          <a:solidFill>
            <a:schemeClr val="dk1"/>
          </a:solidFill>
          <a:ln cap="flat" cmpd="sng" w="38100">
            <a:solidFill>
              <a:srgbClr val="00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3" name="Google Shape;313;p26"/>
          <p:cNvCxnSpPr>
            <a:stCxn id="311" idx="6"/>
            <a:endCxn id="312" idx="2"/>
          </p:cNvCxnSpPr>
          <p:nvPr/>
        </p:nvCxnSpPr>
        <p:spPr>
          <a:xfrm>
            <a:off x="3752700" y="474950"/>
            <a:ext cx="1453800" cy="0"/>
          </a:xfrm>
          <a:prstGeom prst="straightConnector1">
            <a:avLst/>
          </a:prstGeom>
          <a:noFill/>
          <a:ln cap="flat" cmpd="sng" w="38100">
            <a:solidFill>
              <a:srgbClr val="00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4" name="Google Shape;314;p26"/>
          <p:cNvSpPr txBox="1"/>
          <p:nvPr/>
        </p:nvSpPr>
        <p:spPr>
          <a:xfrm>
            <a:off x="1497750" y="817875"/>
            <a:ext cx="893100" cy="461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lt2"/>
                </a:solidFill>
              </a:rPr>
              <a:t>機械碼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315" name="Google Shape;315;p26"/>
          <p:cNvSpPr txBox="1"/>
          <p:nvPr/>
        </p:nvSpPr>
        <p:spPr>
          <a:xfrm>
            <a:off x="3008550" y="817850"/>
            <a:ext cx="1192500" cy="461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lt2"/>
                </a:solidFill>
              </a:rPr>
              <a:t>組合語言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316" name="Google Shape;316;p26"/>
          <p:cNvSpPr txBox="1"/>
          <p:nvPr/>
        </p:nvSpPr>
        <p:spPr>
          <a:xfrm>
            <a:off x="4801950" y="817850"/>
            <a:ext cx="1121700" cy="461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lt2"/>
                </a:solidFill>
              </a:rPr>
              <a:t>直譯語言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317" name="Google Shape;317;p26"/>
          <p:cNvSpPr txBox="1"/>
          <p:nvPr/>
        </p:nvSpPr>
        <p:spPr>
          <a:xfrm>
            <a:off x="6524550" y="817850"/>
            <a:ext cx="1121700" cy="461700"/>
          </a:xfrm>
          <a:prstGeom prst="rect">
            <a:avLst/>
          </a:pr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rgbClr val="FFFF00"/>
                </a:solidFill>
              </a:rPr>
              <a:t>編譯語言</a:t>
            </a:r>
            <a:endParaRPr sz="1800">
              <a:solidFill>
                <a:srgbClr val="FFFF00"/>
              </a:solidFill>
            </a:endParaRPr>
          </a:p>
        </p:txBody>
      </p:sp>
      <p:sp>
        <p:nvSpPr>
          <p:cNvPr id="318" name="Google Shape;318;p26"/>
          <p:cNvSpPr/>
          <p:nvPr/>
        </p:nvSpPr>
        <p:spPr>
          <a:xfrm>
            <a:off x="6929100" y="341000"/>
            <a:ext cx="312600" cy="267900"/>
          </a:xfrm>
          <a:prstGeom prst="ellipse">
            <a:avLst/>
          </a:prstGeom>
          <a:solidFill>
            <a:schemeClr val="dk1"/>
          </a:solidFill>
          <a:ln cap="flat" cmpd="sng" w="381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00"/>
              </a:solidFill>
            </a:endParaRPr>
          </a:p>
        </p:txBody>
      </p:sp>
      <p:cxnSp>
        <p:nvCxnSpPr>
          <p:cNvPr id="319" name="Google Shape;319;p26"/>
          <p:cNvCxnSpPr>
            <a:stCxn id="318" idx="2"/>
            <a:endCxn id="312" idx="6"/>
          </p:cNvCxnSpPr>
          <p:nvPr/>
        </p:nvCxnSpPr>
        <p:spPr>
          <a:xfrm rot="10800000">
            <a:off x="5519100" y="474950"/>
            <a:ext cx="1410000" cy="0"/>
          </a:xfrm>
          <a:prstGeom prst="straightConnector1">
            <a:avLst/>
          </a:prstGeom>
          <a:noFill/>
          <a:ln cap="flat" cmpd="sng" w="38100">
            <a:solidFill>
              <a:srgbClr val="00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0" name="Google Shape;320;p26"/>
          <p:cNvSpPr txBox="1"/>
          <p:nvPr/>
        </p:nvSpPr>
        <p:spPr>
          <a:xfrm>
            <a:off x="231700" y="2847300"/>
            <a:ext cx="1860300" cy="1279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0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zh-TW" sz="6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60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time</a:t>
            </a:r>
            <a:endParaRPr sz="600">
              <a:solidFill>
                <a:srgbClr val="4EC9B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00">
                <a:solidFill>
                  <a:srgbClr val="4FC1FF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zh-TW" sz="6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6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zh-TW" sz="6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60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100000000</a:t>
            </a:r>
            <a:endParaRPr sz="600">
              <a:solidFill>
                <a:srgbClr val="B5CEA8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start</a:t>
            </a:r>
            <a:r>
              <a:rPr lang="zh-TW" sz="6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6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zh-TW" sz="6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60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time</a:t>
            </a:r>
            <a:r>
              <a:rPr lang="zh-TW" sz="6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zh-TW" sz="60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time</a:t>
            </a:r>
            <a:r>
              <a:rPr lang="zh-TW" sz="6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6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lang="zh-TW" sz="6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6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zh-TW" sz="6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60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sz="600">
              <a:solidFill>
                <a:srgbClr val="B5CEA8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0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zh-TW" sz="6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6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zh-TW" sz="6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60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zh-TW" sz="6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60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range</a:t>
            </a:r>
            <a:r>
              <a:rPr lang="zh-TW" sz="6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zh-TW" sz="600">
                <a:solidFill>
                  <a:srgbClr val="4FC1FF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zh-TW" sz="6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6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zh-TW" sz="6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lang="zh-TW" sz="6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6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+=</a:t>
            </a:r>
            <a:r>
              <a:rPr lang="zh-TW" sz="6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6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 sz="600">
              <a:solidFill>
                <a:srgbClr val="9CDCFE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zh-TW" sz="6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6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zh-TW" sz="6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60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time</a:t>
            </a:r>
            <a:r>
              <a:rPr lang="zh-TW" sz="6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zh-TW" sz="60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time</a:t>
            </a:r>
            <a:r>
              <a:rPr lang="zh-TW" sz="6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6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0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zh-TW" sz="6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zh-TW" sz="6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zh-TW" sz="6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"Python:</a:t>
            </a:r>
            <a:r>
              <a:rPr lang="zh-TW" sz="6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zh-TW" sz="6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zh-TW" sz="6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6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zh-TW" sz="6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6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start</a:t>
            </a:r>
            <a:r>
              <a:rPr lang="zh-TW" sz="6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:.3f}</a:t>
            </a:r>
            <a:r>
              <a:rPr lang="zh-TW" sz="6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s"</a:t>
            </a:r>
            <a:r>
              <a:rPr lang="zh-TW" sz="6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6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21" name="Google Shape;321;p26"/>
          <p:cNvSpPr/>
          <p:nvPr/>
        </p:nvSpPr>
        <p:spPr>
          <a:xfrm>
            <a:off x="2122475" y="3378900"/>
            <a:ext cx="446400" cy="216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6"/>
          <p:cNvSpPr txBox="1"/>
          <p:nvPr/>
        </p:nvSpPr>
        <p:spPr>
          <a:xfrm>
            <a:off x="644971" y="1568000"/>
            <a:ext cx="83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 u="sng">
                <a:solidFill>
                  <a:schemeClr val="lt2"/>
                </a:solidFill>
              </a:rPr>
              <a:t>C語言</a:t>
            </a:r>
            <a:endParaRPr sz="1800" u="sng">
              <a:solidFill>
                <a:schemeClr val="lt2"/>
              </a:solidFill>
            </a:endParaRPr>
          </a:p>
        </p:txBody>
      </p:sp>
      <p:sp>
        <p:nvSpPr>
          <p:cNvPr id="323" name="Google Shape;323;p26"/>
          <p:cNvSpPr txBox="1"/>
          <p:nvPr/>
        </p:nvSpPr>
        <p:spPr>
          <a:xfrm>
            <a:off x="4851849" y="1568000"/>
            <a:ext cx="215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 u="sng">
                <a:solidFill>
                  <a:schemeClr val="lt2"/>
                </a:solidFill>
              </a:rPr>
              <a:t>Compilation</a:t>
            </a:r>
            <a:endParaRPr sz="1800" u="sng">
              <a:solidFill>
                <a:schemeClr val="lt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 u="sng">
                <a:solidFill>
                  <a:schemeClr val="lt2"/>
                </a:solidFill>
              </a:rPr>
              <a:t>(GIMPLE,gcc -S)</a:t>
            </a:r>
            <a:endParaRPr sz="1800" u="sng">
              <a:solidFill>
                <a:schemeClr val="lt2"/>
              </a:solidFill>
            </a:endParaRPr>
          </a:p>
        </p:txBody>
      </p:sp>
      <p:sp>
        <p:nvSpPr>
          <p:cNvPr id="324" name="Google Shape;324;p26"/>
          <p:cNvSpPr/>
          <p:nvPr/>
        </p:nvSpPr>
        <p:spPr>
          <a:xfrm>
            <a:off x="6795300" y="3527750"/>
            <a:ext cx="446400" cy="216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26"/>
          <p:cNvSpPr txBox="1"/>
          <p:nvPr/>
        </p:nvSpPr>
        <p:spPr>
          <a:xfrm>
            <a:off x="7411000" y="1568000"/>
            <a:ext cx="1660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 u="sng">
                <a:solidFill>
                  <a:schemeClr val="lt2"/>
                </a:solidFill>
              </a:rPr>
              <a:t>Linking</a:t>
            </a:r>
            <a:endParaRPr sz="1800" u="sng">
              <a:solidFill>
                <a:schemeClr val="lt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 u="sng">
                <a:solidFill>
                  <a:schemeClr val="lt2"/>
                </a:solidFill>
              </a:rPr>
              <a:t>(gcc -o…, ldd)</a:t>
            </a:r>
            <a:endParaRPr sz="1800" u="sng">
              <a:solidFill>
                <a:schemeClr val="lt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lt2"/>
              </a:solidFill>
            </a:endParaRPr>
          </a:p>
        </p:txBody>
      </p:sp>
      <p:sp>
        <p:nvSpPr>
          <p:cNvPr id="326" name="Google Shape;326;p26"/>
          <p:cNvSpPr txBox="1"/>
          <p:nvPr/>
        </p:nvSpPr>
        <p:spPr>
          <a:xfrm>
            <a:off x="2715000" y="1568000"/>
            <a:ext cx="1660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 u="sng">
                <a:solidFill>
                  <a:schemeClr val="lt2"/>
                </a:solidFill>
              </a:rPr>
              <a:t>Preprocessing</a:t>
            </a:r>
            <a:endParaRPr sz="1800" u="sng">
              <a:solidFill>
                <a:schemeClr val="lt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lt2"/>
                </a:solidFill>
              </a:rPr>
              <a:t>(gcc -E)</a:t>
            </a:r>
            <a:endParaRPr sz="1800">
              <a:solidFill>
                <a:schemeClr val="lt2"/>
              </a:solidFill>
            </a:endParaRPr>
          </a:p>
        </p:txBody>
      </p:sp>
      <p:pic>
        <p:nvPicPr>
          <p:cNvPr id="327" name="Google Shape;32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4425" y="2509500"/>
            <a:ext cx="1931350" cy="234227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6"/>
          <p:cNvSpPr txBox="1"/>
          <p:nvPr/>
        </p:nvSpPr>
        <p:spPr>
          <a:xfrm>
            <a:off x="2604125" y="4556250"/>
            <a:ext cx="68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</a:rPr>
              <a:t>﹉﹉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329" name="Google Shape;329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79988" y="2474825"/>
            <a:ext cx="1894724" cy="2024755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26"/>
          <p:cNvSpPr/>
          <p:nvPr/>
        </p:nvSpPr>
        <p:spPr>
          <a:xfrm>
            <a:off x="4595775" y="3378900"/>
            <a:ext cx="446400" cy="216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1" name="Google Shape;331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53450" y="2404538"/>
            <a:ext cx="1775900" cy="334416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26"/>
          <p:cNvSpPr txBox="1"/>
          <p:nvPr/>
        </p:nvSpPr>
        <p:spPr>
          <a:xfrm>
            <a:off x="7561750" y="3938975"/>
            <a:ext cx="135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</a:rPr>
              <a:t>程式碼連結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333" name="Google Shape;333;p26"/>
          <p:cNvSpPr txBox="1"/>
          <p:nvPr/>
        </p:nvSpPr>
        <p:spPr>
          <a:xfrm>
            <a:off x="8085100" y="3256350"/>
            <a:ext cx="312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lt2"/>
                </a:solidFill>
              </a:rPr>
              <a:t>+</a:t>
            </a:r>
            <a:endParaRPr sz="18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7"/>
          <p:cNvSpPr/>
          <p:nvPr/>
        </p:nvSpPr>
        <p:spPr>
          <a:xfrm>
            <a:off x="1788000" y="341000"/>
            <a:ext cx="312600" cy="267900"/>
          </a:xfrm>
          <a:prstGeom prst="ellipse">
            <a:avLst/>
          </a:prstGeom>
          <a:solidFill>
            <a:schemeClr val="dk1"/>
          </a:solidFill>
          <a:ln cap="flat" cmpd="sng" w="38100">
            <a:solidFill>
              <a:srgbClr val="00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9" name="Google Shape;339;p27"/>
          <p:cNvCxnSpPr/>
          <p:nvPr/>
        </p:nvCxnSpPr>
        <p:spPr>
          <a:xfrm>
            <a:off x="2100600" y="474950"/>
            <a:ext cx="1339500" cy="0"/>
          </a:xfrm>
          <a:prstGeom prst="straightConnector1">
            <a:avLst/>
          </a:prstGeom>
          <a:noFill/>
          <a:ln cap="flat" cmpd="sng" w="38100">
            <a:solidFill>
              <a:srgbClr val="00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0" name="Google Shape;340;p27"/>
          <p:cNvSpPr/>
          <p:nvPr/>
        </p:nvSpPr>
        <p:spPr>
          <a:xfrm>
            <a:off x="3440100" y="341000"/>
            <a:ext cx="312600" cy="267900"/>
          </a:xfrm>
          <a:prstGeom prst="ellipse">
            <a:avLst/>
          </a:prstGeom>
          <a:solidFill>
            <a:schemeClr val="dk1"/>
          </a:solidFill>
          <a:ln cap="flat" cmpd="sng" w="38100">
            <a:solidFill>
              <a:srgbClr val="00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7"/>
          <p:cNvSpPr/>
          <p:nvPr/>
        </p:nvSpPr>
        <p:spPr>
          <a:xfrm>
            <a:off x="5206500" y="341000"/>
            <a:ext cx="312600" cy="267900"/>
          </a:xfrm>
          <a:prstGeom prst="ellipse">
            <a:avLst/>
          </a:prstGeom>
          <a:solidFill>
            <a:schemeClr val="dk1"/>
          </a:solidFill>
          <a:ln cap="flat" cmpd="sng" w="38100">
            <a:solidFill>
              <a:srgbClr val="00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42" name="Google Shape;342;p27"/>
          <p:cNvCxnSpPr>
            <a:stCxn id="340" idx="6"/>
            <a:endCxn id="341" idx="2"/>
          </p:cNvCxnSpPr>
          <p:nvPr/>
        </p:nvCxnSpPr>
        <p:spPr>
          <a:xfrm>
            <a:off x="3752700" y="474950"/>
            <a:ext cx="1453800" cy="0"/>
          </a:xfrm>
          <a:prstGeom prst="straightConnector1">
            <a:avLst/>
          </a:prstGeom>
          <a:noFill/>
          <a:ln cap="flat" cmpd="sng" w="38100">
            <a:solidFill>
              <a:srgbClr val="00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3" name="Google Shape;343;p27"/>
          <p:cNvSpPr txBox="1"/>
          <p:nvPr/>
        </p:nvSpPr>
        <p:spPr>
          <a:xfrm>
            <a:off x="1497750" y="817875"/>
            <a:ext cx="893100" cy="461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lt2"/>
                </a:solidFill>
              </a:rPr>
              <a:t>機械碼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344" name="Google Shape;344;p27"/>
          <p:cNvSpPr txBox="1"/>
          <p:nvPr/>
        </p:nvSpPr>
        <p:spPr>
          <a:xfrm>
            <a:off x="3008550" y="817850"/>
            <a:ext cx="1192500" cy="461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lt2"/>
                </a:solidFill>
              </a:rPr>
              <a:t>組合語言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345" name="Google Shape;345;p27"/>
          <p:cNvSpPr txBox="1"/>
          <p:nvPr/>
        </p:nvSpPr>
        <p:spPr>
          <a:xfrm>
            <a:off x="4801950" y="817850"/>
            <a:ext cx="1121700" cy="461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lt2"/>
                </a:solidFill>
              </a:rPr>
              <a:t>直譯語言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346" name="Google Shape;346;p27"/>
          <p:cNvSpPr txBox="1"/>
          <p:nvPr/>
        </p:nvSpPr>
        <p:spPr>
          <a:xfrm>
            <a:off x="6524550" y="817850"/>
            <a:ext cx="1121700" cy="461700"/>
          </a:xfrm>
          <a:prstGeom prst="rect">
            <a:avLst/>
          </a:pr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rgbClr val="FFFF00"/>
                </a:solidFill>
              </a:rPr>
              <a:t>編譯語言</a:t>
            </a:r>
            <a:endParaRPr sz="1800">
              <a:solidFill>
                <a:srgbClr val="FFFF00"/>
              </a:solidFill>
            </a:endParaRPr>
          </a:p>
        </p:txBody>
      </p:sp>
      <p:sp>
        <p:nvSpPr>
          <p:cNvPr id="347" name="Google Shape;347;p27"/>
          <p:cNvSpPr/>
          <p:nvPr/>
        </p:nvSpPr>
        <p:spPr>
          <a:xfrm>
            <a:off x="6929100" y="341000"/>
            <a:ext cx="312600" cy="267900"/>
          </a:xfrm>
          <a:prstGeom prst="ellipse">
            <a:avLst/>
          </a:prstGeom>
          <a:solidFill>
            <a:schemeClr val="dk1"/>
          </a:solidFill>
          <a:ln cap="flat" cmpd="sng" w="381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00"/>
              </a:solidFill>
            </a:endParaRPr>
          </a:p>
        </p:txBody>
      </p:sp>
      <p:cxnSp>
        <p:nvCxnSpPr>
          <p:cNvPr id="348" name="Google Shape;348;p27"/>
          <p:cNvCxnSpPr>
            <a:stCxn id="347" idx="2"/>
            <a:endCxn id="341" idx="6"/>
          </p:cNvCxnSpPr>
          <p:nvPr/>
        </p:nvCxnSpPr>
        <p:spPr>
          <a:xfrm rot="10800000">
            <a:off x="5519100" y="474950"/>
            <a:ext cx="1410000" cy="0"/>
          </a:xfrm>
          <a:prstGeom prst="straightConnector1">
            <a:avLst/>
          </a:prstGeom>
          <a:noFill/>
          <a:ln cap="flat" cmpd="sng" w="38100">
            <a:solidFill>
              <a:srgbClr val="00FFFF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49" name="Google Shape;34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250" y="4956250"/>
            <a:ext cx="8567500" cy="8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27"/>
          <p:cNvSpPr/>
          <p:nvPr/>
        </p:nvSpPr>
        <p:spPr>
          <a:xfrm>
            <a:off x="888275" y="5286075"/>
            <a:ext cx="535200" cy="210600"/>
          </a:xfrm>
          <a:prstGeom prst="rect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1" name="Google Shape;351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0788" y="1835000"/>
            <a:ext cx="2275717" cy="1262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8599" y="3241925"/>
            <a:ext cx="2460100" cy="68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59250" y="1982085"/>
            <a:ext cx="2030425" cy="96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2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817750" y="3241925"/>
            <a:ext cx="2913424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2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062425" y="2748775"/>
            <a:ext cx="2962975" cy="35865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27"/>
          <p:cNvSpPr/>
          <p:nvPr/>
        </p:nvSpPr>
        <p:spPr>
          <a:xfrm>
            <a:off x="2578700" y="2819800"/>
            <a:ext cx="446400" cy="216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27"/>
          <p:cNvSpPr/>
          <p:nvPr/>
        </p:nvSpPr>
        <p:spPr>
          <a:xfrm>
            <a:off x="5590575" y="2784250"/>
            <a:ext cx="446400" cy="216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